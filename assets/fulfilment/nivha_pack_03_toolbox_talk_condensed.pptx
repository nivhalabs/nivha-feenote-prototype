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whoever prepares the deck. It is not part of the talk.
Work down the checklist, then delete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welcome everyone, say who you are and that this is a short safety briefing.
Cue: two promises — nobody is in trouble, and you will show how a test actually works.
Cue: say the session takes about half an hour and there is a sheet to sign at the end.
Full words for this slide are in the delivery script booklet,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this is not about anyone's weekend or private life.
Cue: the one question is whether a person is fit to work safely today.
Cue: mention that there is a support route, and you will come back to it.
Script booklet, section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read the numbers out, let them land, do not dwell.
Cue: these come from the statistics agencies, not from campaign groups.
Cue: point out that in any large workforce some people will be affected.
Setup: this is the Northern Ireland version. Delete the other two scale slides.
Script booklet, 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read the numbers out, let them land, do not dwell.
Cue: these come from the statistics agencies, not from campaign groups.
Cue: point out that in any large workforce some people will be affected.
Setup: this is the Republic of Ireland version. Delete the other two scale slides.
Script booklet, 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read the numbers out, let them land, do not dwell.
Cue: these come from the statistics agencies, not from campaign groups.
Cue: point out that in any large workforce some people will be affected.
Setup: this is the Great Britain version. Delete the other two scale slides.
Script booklet, 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run through the four groups, pausing on medication.
Cue: the screening panel does not know why something is in a sample — declaring supplies the why.
Cue: ask nobody to name names or personal examples.
Script booklet,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link each effect to a real task on this site — driving, lifting, working at height.
Cue: the person affected is usually the last to notice.
Cue: ask the room which tasks here would be worst hit by a lapse of attention.
Script booklet, section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read out only the testing types that actually apply here.
Cue: say who owns the policy and where the full document can be read.
Cue: say clearly that it applies to contractors and visitors too.
Script booklet, 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play the film — test the sound before the session starts.
Cue: before playing, tell people what to watch for: the sealed kit, the swab, the seal, the signature.
Cue: afterwards ask whether anything was different from what they expected.
Script booklet, section 7. If there is no internet, describe the four moments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the word at the screening stage is non-negative, never positive and never a fail.
Cue: a non-negative screen means the samples go to a laboratory. That is all it means.
Cue: do not offer any numbers here — the laboratory publishes its own schedule.
Script booklet, section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declare before a test, not after a result — the order changes everything.
Cue: nobody has to tell a supervisor what their condition is.
Cue: on medicinal cannabis and CBD, never say it will not show up. Say it goes to medical review.
Script booklet, section 9, and the crib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results are health data and are handled with stronger protection than ordinary records.
Cue: a supervisor is told whether someone is fit for work, not what was found.
Cue: nothing is announced or discussed on the floor.
Script booklet, section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say this calmly and once. Better known today than discovered on the day.
Cue: a genuine reason raised at the time is a different thing from a refusal.
Cue: adulterants and substitutes are detectable, and attempting it is the offence.
Script booklet, section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read the routes out slowly and let people photograph the slide.
Cue: self-referral before selection for testing is treated as a health matter, not a disciplinary one.
Cue: say that a GP route involves the employer not at all.
Setup: this is the Northern Ireland version. Delete the other two support slides.
Script booklet, section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read the routes out slowly and let people photograph the slide.
Cue: self-referral before selection for testing is treated as a health matter, not a disciplinary one.
Cue: say that a GP route involves the employer not at all.
Setup: this is the Republic of Ireland version. Delete the other two support slides.
Script booklet, section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read the routes out slowly and let people photograph the slide.
Cue: self-referral before selection for testing is treated as a health matter, not a disciplinary one.
Cue: say that a GP route involves the employer not at all.
Setup: this is the Great Britain version. Delete the other two support slides.
Script booklet, section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Answers, for the presenter.
1. What single question is the policy asking? Whether you are fit to do your work safely today.
2. What does a non-negative screen mean? That the sample goes to a laboratory for confirmation. It is not a positive and it is not a fail.
3. When do you declare medication? Before a test, and before your first shift on anything new that carries a drowsiness or machinery warning. You never have to state the diagnosis.
If anyone asks something you cannot answer, park it on the sign-off sheet and pass it to ⟨Policy owner⟩ after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give the three things to remember, then the closing sentence.
Cue: pass the sign-off sheet round — print, sign, date.
Cue: write any parked question on the sheet and pass it to ⟨Policy owner⟩ afterwards. Never guess an answer.
Script booklet, section 14 and the back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se.gov.uk/alcoholdrugs/the-law.htm" TargetMode="External"/><Relationship Id="rId2" Type="http://schemas.openxmlformats.org/officeDocument/2006/relationships/hyperlink" Target="https://www.irishstatutebook.ie/eli/2005/act/10/section/13/enacted/en/html" TargetMode="External"/><Relationship Id="rId3" Type="http://schemas.openxmlformats.org/officeDocument/2006/relationships/hyperlink" Target="https://www.hsa.ie/eng/publications_and_forms/publications/occupational_health/intoxicants_at_work_information_sheet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isra.gov.uk/publications/drug-related-and-drug-misuse-deaths-2014-202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rb.ie/publication/drug-poisoning-deaths-in-ireland-in-2022/" TargetMode="External"/><Relationship Id="rId2" Type="http://schemas.openxmlformats.org/officeDocument/2006/relationships/hyperlink" Target="https://www.drugsandalcohol.ie/deaths-data/" TargetMode="External"/><Relationship Id="rId3" Type="http://schemas.openxmlformats.org/officeDocument/2006/relationships/hyperlink" Target="https://www.euda.europa.eu/publications/european-drug-report/2026/cocaine_en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ns.gov.uk/peoplepopulationandcommunity/birthsdeathsandmarriages/deaths/bulletins/deathsrelatedtodrugpoisoninginenglandandwales/2024registration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se.gov.uk/alcoholdrug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_2tAEqwoOm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idirect.gov.uk/articles/getting-help-drug-or-alcohol-problems" TargetMode="External"/><Relationship Id="rId2" Type="http://schemas.openxmlformats.org/officeDocument/2006/relationships/hyperlink" Target="https://www.inspirewellbeing.org/our-addiction-service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2.hse.ie/services/habit-addiction/drugs-and-alcohol-helpline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se.gov.uk/alcoholdrug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777240" y="502920"/>
            <a:ext cx="10637215" cy="713232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50292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spc="200" kern="0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DELETE THIS SLIDE BEFORE PRESENTING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637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C3C3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Setup checklist for the person preparing this deck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19933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1.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993392"/>
            <a:ext cx="101342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Fill in the placeholders.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⟨angle bracket⟩ token in the slides, the delivery script and the sign-off sheet is filled in from your own policy before the talk.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6700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2.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2670048"/>
            <a:ext cx="1013429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Keep the slides flagged for your jurisdiction.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slides come in three versions — Northern Ireland, Republic of Ireland and Great Britain — each labelled in the top right corner. Keep the one that matches where you operate and delete the other two.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5935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3.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3593592"/>
            <a:ext cx="1013429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Delete this slide.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Once the checklist is done, remove it so the deck opens on the cover.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40233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4.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4023360"/>
            <a:ext cx="1013429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Print the sign-off sheet.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sheet, with enough rows for everyone attending, plus a pen that works.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44531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5.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4453128"/>
            <a:ext cx="101342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Test the video with the sound on.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short procedure film sits in the testing section. Play it once before the session, on the screen and speakers you will use.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51297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6.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5129784"/>
            <a:ext cx="101342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Allow 25 to 35 minutes.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That is the run time for the talk itself, including the film and the three questions at the end.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6053328"/>
            <a:ext cx="10637215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6163056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A6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Problems with the pack files: info@nivha.net · 02890 737942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pic>
        <p:nvPicPr>
          <p:cNvPr id="5" name="Image 0" descr="/home/user/workspace/nivha-website/public/assets/nivha-logo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2743200" cy="6149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-45720" y="2286000"/>
            <a:ext cx="12283135" cy="2377440"/>
          </a:xfrm>
          <a:prstGeom prst="rect">
            <a:avLst/>
          </a:prstGeom>
          <a:solidFill>
            <a:srgbClr val="EAF4F7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2560320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Toolbox talk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77240" y="2926080"/>
            <a:ext cx="8625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C2D2F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Drugs and alcohol at work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777240" y="3931920"/>
            <a:ext cx="8625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⟨Company name⟩ · ⟨Date⟩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4892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Delivered by ⟨Presenter⟩ · about 25 to 35 minutes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77240" y="52852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with NIVHA Laboratory Services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7240" y="58704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Sign-off sheet and delivery script accompany this deck.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Why we are here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Why we are talking about this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Safety, not surveillance. The policy asks one question about today.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HSE — the law</a:t>
            </a:r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Safety, Health and Welfare at Work Act 2005, s.13</a:t>
            </a:r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HSA — intoxicants at 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8259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policy asks one question: are you fit to do your work safely today.</a:t>
            </a:r>
            <a:endParaRPr lang="en-US" sz="2500" dirty="0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330189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" y="3346704"/>
            <a:ext cx="28629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Not about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weekend, your private life, or judging anybody's choices. No moral test is being applied here.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444898" y="3200400"/>
            <a:ext cx="330189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4354" y="3346704"/>
            <a:ext cx="28629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About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Impairment at work, on this site, today — and the people working beside you who depend on you being sharp.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112557" y="3200400"/>
            <a:ext cx="330189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2013" y="3346704"/>
            <a:ext cx="28629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And about support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route to ask for help before something goes wrong, which is not the same route as discipline.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7240" y="475488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employer must protect the health, safety and welfare of everyone at work, so far as is reasonably practicable</a:t>
            </a:r>
            <a:endParaRPr lang="en-US" sz="130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must not be under the influence of an intoxicant to the extent that you endanger yourself or anyone else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scale of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scale of it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Northern Ireland figures, so that nobody thinks this is a rare problem somewhere else.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93815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Northern Ireland version — keep if you operate in NI, delete the others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A8BA3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251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77240" y="3227832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drug-related deaths registered in Northern Ireland in 2024, of which 219 met the definition of drug misuse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44898" y="233172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A8BA3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101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4444898" y="3227832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those 251 certificates named pregabalin, a prescription medicine — the single drug named most often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12557" y="233172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A8BA3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131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112557" y="3227832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certificates named opioids, the drug group appearing most often, and the 35 to 44 age group had the highest rate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4754880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are working-age people. On the numbers, in any large workforce there will be people affected, and most will believe it never touches their work.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scale of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scale of it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Republic of Ireland figures, so that nobody thinks this is a rare problem somewhere else.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HRB National Drug-Related Deaths Index</a:t>
            </a:r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HRB deaths data</a:t>
            </a:r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EUDA European Drug Report 2026 — cocaine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93815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Republic of Ireland version — keep if you operate in ROI, delete the others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A8BA3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343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77240" y="3227832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drug poisoning deaths recorded in Ireland in 2022, the second consecutive annual fall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44898" y="233172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A8BA3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33.5%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4444898" y="3227832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those deaths had cocaine implicated — around one in three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12557" y="233172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A8BA3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259%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112557" y="3227832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rise in cocaine poisoning deaths between 2013 and 2022, the largest rise of any drug group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4754880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are working-age people. On the numbers, in any large workforce there will be people affected, and most will believe it never touches their work.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scale of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scale of it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figures for England and Wales, so that nobody thinks this is a rare problem somewhere else.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93815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Britain version — keep if you operate in GB, delete the others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A8BA3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5,565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77240" y="3227832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deaths related to drug poisoning registered in England and Wales in 2024 — the highest number since the series began in 1993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44898" y="233172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A8BA3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1,279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4444898" y="3227832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those deaths involved cocaine, a rise of 14.4% in a single year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12557" y="233172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2A8BA3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2012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112557" y="3227832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year from which the age-standardised rate has risen every year since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553212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published series covers England and Wales; Scotland reports separately.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4754880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are working-age people. On the numbers, in any large workforce there will be people affected, and most will believe it never touches their work.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02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 counts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 the policy counts as a substance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groups, and the last two surprise people.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2286000"/>
            <a:ext cx="513572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696" y="2432304"/>
            <a:ext cx="469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Alcohol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most used substance in the population. It is in scope during working hours and paid breaks, and it can still be affecting somebody the morning after.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8728" y="2286000"/>
            <a:ext cx="513572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8184" y="2432304"/>
            <a:ext cx="469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Illegal drugs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Cocaine is the substance found most often in workplace samples, with cannabis second. Possession or use on site is a policy matter in every case.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" y="4023360"/>
            <a:ext cx="5135728" cy="146304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6696" y="4169664"/>
            <a:ext cx="469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Prescription and pharmacy medicines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when they are misused, or when a medicine that affects alertness has not been declared. Codeine-containing painkillers, sedating antihistamines, sleeping tablets and prescribed sedatives all count.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78728" y="4023360"/>
            <a:ext cx="5135728" cy="146304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8184" y="4169664"/>
            <a:ext cx="469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Psychoactive substances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So-called legal highs and novel substances. The contents are unknown to the person taking them, which makes the effect at work unpredictable.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7240" y="5623560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 declared, prescribed medicine handled through medical review is not a policy breach. An undeclared one is a different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02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Effects at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 impairment actually looks like on site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 terms. None of this needs a clinical explanation.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HSE — managing drug and alcohol misuse at 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513572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6696" y="2432304"/>
            <a:ext cx="469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Judgement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Risks look smaller than they are. Shortcuts start to feel reasonable, and the decision to stop feels unnecessary.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78728" y="2286000"/>
            <a:ext cx="513572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8184" y="2432304"/>
            <a:ext cx="469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Reaction time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gap between seeing something and doing something about it stretches. Around moving plant, that gap is the whole margin of safety.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" y="3886200"/>
            <a:ext cx="5135728" cy="132588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6696" y="4032504"/>
            <a:ext cx="469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Coordination and balance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Grip, footing and fine control slip. Working at height, on ladders or with tools, that shows up quickly.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78728" y="3886200"/>
            <a:ext cx="5135728" cy="132588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8184" y="4032504"/>
            <a:ext cx="469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Fatigue and attention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Concentration drifts, and tiredness after use can last well beyond the effect itself. Repetitive tasks are where it bites.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77240" y="534924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person affected is usually the last one to notice — the standard is fitness for work, not self-assessment.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03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Our policy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Our policy, and the rules here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standard is fitness for work, and it applies to everybody on site.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907024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Testing types, the support stance and the policy location are filled from the policy answers.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" y="2194560"/>
            <a:ext cx="1022573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standard is fitness for work: if alcohol, drugs or any substance could be affecting you, you do not start</a:t>
            </a:r>
            <a:endParaRPr lang="en-US" sz="1550" dirty="0"/>
          </a:p>
          <a:p>
            <a:pPr marL="228600" indent="-2286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Working hours and paid breaks are both covered, and it applies to everyone on site including contractors and visitors</a:t>
            </a:r>
            <a:endParaRPr lang="en-US" sz="1550" dirty="0"/>
          </a:p>
          <a:p>
            <a:pPr marL="228600" indent="-2286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Testing that applies here: ⟨Testing types in your policy⟩</a:t>
            </a:r>
            <a:endParaRPr lang="en-US" sz="1550" dirty="0"/>
          </a:p>
          <a:p>
            <a:pPr marL="228600" indent="-2286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Breaches are treated seriously, and the policy sets out what follows a non-negative screen</a:t>
            </a:r>
            <a:endParaRPr lang="en-US" sz="1550" dirty="0"/>
          </a:p>
          <a:p>
            <a:pPr marL="228600" indent="-228600">
              <a:lnSpc>
                <a:spcPts val="25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policy owner is ⟨Policy owner⟩ and the full document is available at ⟨Where the policy is published⟩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77240" y="4892040"/>
            <a:ext cx="10637215" cy="841248"/>
          </a:xfrm>
          <a:prstGeom prst="rect">
            <a:avLst/>
          </a:prstGeom>
          <a:solidFill>
            <a:srgbClr val="EAF4F7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12064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Read the policy once today, rather than for the first time on a bad day.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04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How testing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How a test actually works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short film of an oral fluid collection, start to finish, then the paper trail behind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2286000"/>
            <a:ext cx="64922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2560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Oral fluid collection — procedure film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3063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film: </a:t>
            </a:r>
            <a:pPr indent="0" marL="0">
              <a:buNone/>
            </a:pPr>
            <a:r>
              <a:rPr lang="en-US" sz="1400" u="sng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youtu.be/_2tAEqwoOmI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3474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for four moments: the sealed kit opened in front of the donor, how the swab is handled, the tamper-evident seal going on, and the paperwork being signed.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1812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Chain of custody — the paper trail that protects you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18120" y="28346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sealed kit is opened in front of you and the sample is sealed while you watch</a:t>
            </a:r>
            <a:endParaRPr lang="en-US" sz="1250" dirty="0"/>
          </a:p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check the details, sign the chain of custody form and keep a copy</a:t>
            </a:r>
            <a:endParaRPr lang="en-US" sz="1250" dirty="0"/>
          </a:p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handover is logged; if any link in the chain is broken, the result is not defensible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4709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Nobody appearing in the film is an employee of any client organisation.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5120640"/>
            <a:ext cx="10637215" cy="658368"/>
          </a:xfrm>
          <a:prstGeom prst="rect">
            <a:avLst/>
          </a:prstGeom>
          <a:solidFill>
            <a:srgbClr val="EAF4F7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5285232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 negative screen ends the matter and you go back to work.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04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Screening and confirmation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Screening and confirmation are different things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screen indicates. Only the laboratory confirms.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2286000"/>
            <a:ext cx="51357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696" y="2432304"/>
            <a:ext cx="4696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Screening, on site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point-of-care device gives an indication. It is not evidential, it is not presented as final, and it is never described as a failed test. The word used is “non-negative”.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8728" y="2286000"/>
            <a:ext cx="51357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8184" y="2432304"/>
            <a:ext cx="4696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Confirmation, in the laboratory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Further samples, different analytical methods, assessed against the current published cut-off schedule of the analysing laboratory. This is the evidential step, and it produces a certificate.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406908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 non-negative screen is not a failed test. It is the point at which the sample goes to a laboratory.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77240" y="4937760"/>
            <a:ext cx="10225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are stood down from safety-critical work while the process runs — a precaution, not a finding</a:t>
            </a:r>
            <a:endParaRPr lang="en-US" sz="1250" dirty="0"/>
          </a:p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further sample is retained so that independent re-analysis can be requested</a:t>
            </a:r>
            <a:endParaRPr lang="en-US" sz="1250" dirty="0"/>
          </a:p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Confirmation is carried out by an accredited laboratory, and only that step produces a certificate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05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Medication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Medication: declare it, and read the label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Declared in advance, a prescribed medicine is not a policy breach.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907024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confidential declaration route is filled from the policy answers.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2267712"/>
            <a:ext cx="51357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6696" y="2414016"/>
            <a:ext cx="469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Declare before, not after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 confidential route — ⟨Medical declaration route⟩ — before a test and before starting safety-critical work on something new. You never have to tell your line manager what the condition is.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78728" y="2267712"/>
            <a:ext cx="51357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8184" y="2414016"/>
            <a:ext cx="469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Read the label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“May cause drowsiness”, “do not drive”, “do not operate machinery”. Those warnings describe the work many of you do. Raise it so the task can be looked at.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" y="3895344"/>
            <a:ext cx="5135728" cy="137160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6696" y="4041648"/>
            <a:ext cx="469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Prescribed cannabis-based products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are medication and go through medical review, where a clinician assesses the laboratory finding against the declared prescription.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78728" y="3895344"/>
            <a:ext cx="5135728" cy="137160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8184" y="4041648"/>
            <a:ext cx="469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CBD products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are not tightly regulated and some contain more than the label claims. If you use one, declare it through the same confidential route.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77240" y="5577840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detail goes to the reviewing clinician, not to management. The authorised contact receives an outcome only.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05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Your rights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Your rights through the process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Consent, dignity, confidentiality, and who is allowed to see a result.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2286000"/>
            <a:ext cx="51357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696" y="2432304"/>
            <a:ext cx="469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Consent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sample is given with your agreement, after the procedure has been explained. You may ask for it to be explained again at any point.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8728" y="2286000"/>
            <a:ext cx="51357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8184" y="2432304"/>
            <a:ext cx="469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Dignity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private room is used, never the canteen or the shop floor. Nobody supervises you in a way that would embarrass you.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" y="3931920"/>
            <a:ext cx="5135728" cy="137160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6696" y="4078224"/>
            <a:ext cx="469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Confidentiality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result is health data, a special category with stronger protection. Only the authorised contacts named in the policy see it.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78728" y="3931920"/>
            <a:ext cx="5135728" cy="137160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8184" y="4078224"/>
            <a:ext cx="469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Your information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can ask what is held about you, ask for a copy, and ask for inaccurate information to be corrected. Records are kept only for the period the policy sets out.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7240" y="5504688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 supervisor is told whether you are fit for work. A supervisor is not told what was found.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05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Refusal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Refusing a test, and interfering with a sample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are treated as seriously as a confirmed positive result.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44168" y="237744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Refusing to provide a sample without good reason is generally treated the same as a positive result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9809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44168" y="2980944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Walking away, delaying until the collector leaves, or leaving site when asked are all treated as refusal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584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44168" y="358444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Substituting, diluting or adding anything to a sample is treated as tampering, and the attempt is the issue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1879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44168" y="4187952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Collection kits and laboratory checks are designed to reveal interference with a sample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4791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44168" y="4791456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you have a genuine reason you cannot provide a sample, say so at the time so that it can be recorded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7240" y="5440680"/>
            <a:ext cx="10637215" cy="731520"/>
          </a:xfrm>
          <a:prstGeom prst="rect">
            <a:avLst/>
          </a:prstGeom>
          <a:solidFill>
            <a:srgbClr val="EAF4F7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562356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Nobody is asked to prove they are innocent. The process is there so that decisions rest on evidence rather than an opinion on site.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06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Where to go if this is becoming a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a photograph of this slide. Asking for help is not a breach of the policy.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nidirect — getting help with drug or alcohol problems</a:t>
            </a:r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Inspire — addiction services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93815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Northern Ireland version — keep if you operate in NI, delete the others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5559552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employee assistance programme line is shown only when a programme is in place.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77240" y="2286000"/>
            <a:ext cx="51357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6696" y="2432304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Come forward first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Self-referral before you are selected for testing is treated as a health matter, with support. Coming forward is not the same as being found out, and the policy recognises the difference.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78728" y="2286000"/>
            <a:ext cx="51357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8184" y="2432304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Confidentially, here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 to ⟨Support contact⟩, or use the employee assistance programme where one is in place. This is a health route, not a disciplinary one.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77240" y="3822192"/>
            <a:ext cx="5135728" cy="128016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6696" y="3968496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Your GP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GP can treat this as the health matter it is, and that route involves your employer not at all.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78728" y="3822192"/>
            <a:ext cx="5135728" cy="128016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8184" y="3968496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Public services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services listed on nidirect, and the addiction services run by Inspire. Both are open to anybody, at any stage, and neither goes through your employer.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77240" y="5285232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Asking for help is not a breach of any policy worth having.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06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Where to go if this is becoming a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a photograph of this slide. Asking for help is not a breach of the policy.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HSE Drugs and Alcohol Helpline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93815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Republic of Ireland version — keep if you operate in ROI, delete the others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5559552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employee assistance programme line is shown only when a programme is in place.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77240" y="2286000"/>
            <a:ext cx="51357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6696" y="2432304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Come forward first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Self-referral before you are selected for testing is treated as a health matter, with support. Coming forward is not the same as being found out, and the policy recognises the difference.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78728" y="2286000"/>
            <a:ext cx="51357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8184" y="2432304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Confidentially, here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 to ⟨Support contact⟩, or use the employee assistance programme where one is in place. This is a health route, not a disciplinary one.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77240" y="3822192"/>
            <a:ext cx="5135728" cy="128016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6696" y="3968496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Your GP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GP can treat this as the health matter it is, and that route involves your employer not at all.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78728" y="3822192"/>
            <a:ext cx="5135728" cy="128016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8184" y="3968496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Public services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HSE Drugs and Alcohol Helpline. It is open to anybody, at any stage, and it does not go through your employer.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77240" y="5285232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Asking for help is not a breach of any policy worth having.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06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Where to go if this is becoming a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a photograph of this slide. Asking for help is not a breach of the policy.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E8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HSE — managing drug and alcohol misuse at 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93815" y="548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Britain version — keep if you operate in GB, delete the others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5559552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the current contact details for FRANK and Drinkaware before you present this slide.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77240" y="2286000"/>
            <a:ext cx="51357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6696" y="2432304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Come forward first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Self-referral before you are selected for testing is treated as a health matter, with support. Coming forward is not the same as being found out, and the policy recognises the difference.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78728" y="2286000"/>
            <a:ext cx="513572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8184" y="2432304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Confidentially, here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Speak to ⟨Support contact⟩, or use the employee assistance programme where one is in place. This is a health route, not a disciplinary one.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77240" y="3822192"/>
            <a:ext cx="5135728" cy="128016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6696" y="3968496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Your GP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GP can treat this as the health matter it is, and that route involves your employer not at all.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78728" y="3822192"/>
            <a:ext cx="5135728" cy="1280160"/>
          </a:xfrm>
          <a:prstGeom prst="rect">
            <a:avLst/>
          </a:prstGeom>
          <a:solidFill>
            <a:srgbClr val="F3F5F6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8184" y="3968496"/>
            <a:ext cx="469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Public services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national drug advice service FRANK, and Drinkaware for alcohol. Both are open to anybody, at any stage, and neither goes through your employer.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77240" y="5285232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Asking for help is not a breach of any policy worth having.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06   </a:t>
            </a:r>
            <a:pPr indent="0" marL="0">
              <a:buNone/>
            </a:pPr>
            <a:r>
              <a:rPr lang="en-US" sz="1200" spc="100" kern="0" dirty="0">
                <a:solidFill>
                  <a:srgbClr val="63686C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2C2D2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Three quick questions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Hands up, answer read out straight after each one. Nothing is scored or recorded.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2377440"/>
            <a:ext cx="10637215" cy="822960"/>
          </a:xfrm>
          <a:prstGeom prst="rect">
            <a:avLst/>
          </a:prstGeom>
          <a:solidFill>
            <a:srgbClr val="EAF4F7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596896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single question is the policy asking about you?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383280"/>
            <a:ext cx="10637215" cy="822960"/>
          </a:xfrm>
          <a:prstGeom prst="rect">
            <a:avLst/>
          </a:prstGeom>
          <a:solidFill>
            <a:srgbClr val="EAF4F7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602736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does a non-negative screening result mean?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4389120"/>
            <a:ext cx="10637215" cy="822960"/>
          </a:xfrm>
          <a:prstGeom prst="rect">
            <a:avLst/>
          </a:prstGeom>
          <a:solidFill>
            <a:srgbClr val="EAF4F7"/>
          </a:solidFill>
          <a:ln w="9525">
            <a:solidFill>
              <a:srgbClr val="DC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4608576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do you declare medication, and what do you not have to say?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5532120"/>
            <a:ext cx="8899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Answers are in the speaker notes and in the delivery script booklet.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32764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v1.0 — issued 11 August 2026 · prepared with NIVHA Laboratory Services · a template for the organisation to review and adopt — not legal advice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-45720" y="1645920"/>
            <a:ext cx="12283135" cy="2651760"/>
          </a:xfrm>
          <a:prstGeom prst="rect">
            <a:avLst/>
          </a:prstGeom>
          <a:solidFill>
            <a:srgbClr val="EAF4F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920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A8BA3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Close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8808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dirty="0">
                <a:solidFill>
                  <a:srgbClr val="2C2D2F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Everyone who comes to work healthy and well goes home the same way.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44805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policy asks one question: are you fit to do your work safely today</a:t>
            </a:r>
            <a:endParaRPr lang="en-US" sz="13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screening device indicates, the laboratory confirms, a clinician reviews declared medication</a:t>
            </a:r>
            <a:endParaRPr lang="en-US" sz="13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2D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Declare your medication, and ask for help early — neither one is a breach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5669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368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Please sign the sign-off sheet before you leave. Any question left unanswered is written on the sheet and passed to ⟨Policy owner⟩.</a:t>
            </a:r>
            <a:endParaRPr lang="en-US" sz="1250" dirty="0"/>
          </a:p>
        </p:txBody>
      </p:sp>
      <p:pic>
        <p:nvPicPr>
          <p:cNvPr id="10" name="Image 0" descr="/home/user/workspace/nivha-website/public/assets/nivha-logo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1415" y="5705856"/>
            <a:ext cx="1463040" cy="327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Drugs and alcohol at work — toolbox talk</dc:title>
  <dc:subject>Condensed supervisor-delivered toolbox talk, 25 to 35 minutes</dc:subject>
  <dc:creator>NIVHA Laboratory Services</dc:creator>
  <cp:lastModifiedBy>NIVHA Laboratory Services</cp:lastModifiedBy>
  <cp:revision>1</cp:revision>
  <dcterms:created xsi:type="dcterms:W3CDTF">2026-08-11T12:08:18Z</dcterms:created>
  <dcterms:modified xsi:type="dcterms:W3CDTF">2026-08-11T12:08:18Z</dcterms:modified>
</cp:coreProperties>
</file>