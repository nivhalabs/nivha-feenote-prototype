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How to run this talk — preparation notes</a:t>
            </a:r>
          </a:p>
          <a:p>
            <a:r>
              <a:rPr lang="en-GB" sz="1000" dirty="0"/>
              <a:t>These speaker notes carry the full delivery script. Each slide’s notes hold the words for that slide — read them aloud, or use your own words. To work from paper, print the notes pages (File → Print → Notes pages).</a:t>
            </a:r>
          </a:p>
          <a:p>
            <a:r>
              <a:rPr lang="en-GB" sz="1000" b="1" dirty="0"/>
              <a:t>What you need on the day</a:t>
            </a:r>
          </a:p>
          <a:p>
            <a:r>
              <a:rPr lang="en-GB" sz="1000" dirty="0"/>
              <a:t>The slide deck, on a screen everyone can see</a:t>
            </a:r>
          </a:p>
          <a:p>
            <a:r>
              <a:rPr lang="en-GB" sz="1000" dirty="0"/>
              <a:t>Sound, tested before people arrive — there is a short film in slide 7</a:t>
            </a:r>
          </a:p>
          <a:p>
            <a:r>
              <a:rPr lang="en-GB" sz="1000" dirty="0"/>
              <a:t>The printed sign-off sheet, and a pen that works</a:t>
            </a:r>
          </a:p>
          <a:p>
            <a:r>
              <a:rPr lang="en-GB" sz="1000" dirty="0"/>
              <a:t>These speaker notes, printed as notes pages — or a second screen showing presenter view</a:t>
            </a:r>
          </a:p>
          <a:p>
            <a:r>
              <a:rPr lang="en-GB" sz="1000" b="1" dirty="0"/>
              <a:t>Before you start</a:t>
            </a:r>
          </a:p>
          <a:p>
            <a:r>
              <a:rPr lang="en-GB" sz="1000" dirty="0"/>
              <a:t>You are not expected to be an expert on drugs, alcohol or testing. You are expected to read this out clearly, keep the room calm, and know what to do with a question you cannot answer. That last part is under “The one rule for questions” below, and it is the most important part of these notes.</a:t>
            </a:r>
          </a:p>
          <a:p>
            <a:r>
              <a:rPr lang="en-GB" sz="1000" b="1" dirty="0"/>
              <a:t>Your versions of two slides</a:t>
            </a:r>
          </a:p>
          <a:p>
            <a:r>
              <a:rPr lang="en-GB" sz="1000" dirty="0"/>
              <a:t>Two slides come in three versions — Northern Ireland, Republic of Ireland and Great Britain — each labelled in the top right corner.</a:t>
            </a:r>
          </a:p>
          <a:p>
            <a:r>
              <a:rPr lang="en-GB" sz="1000" dirty="0"/>
              <a:t>Keep the one that matches where you operate, delete the other two of each, then delete the instructions slide at the front.</a:t>
            </a:r>
          </a:p>
          <a:p>
            <a:r>
              <a:rPr lang="en-GB" sz="1000" dirty="0"/>
              <a:t>These notes carry the words for all three versions, labelled the same way.</a:t>
            </a:r>
          </a:p>
          <a:p>
            <a:r>
              <a:rPr lang="en-GB" sz="1000" b="1" dirty="0"/>
              <a:t>The room</a:t>
            </a:r>
          </a:p>
          <a:p>
            <a:r>
              <a:rPr lang="en-GB" sz="1000" dirty="0"/>
              <a:t>Somewhere people can sit and see the screen. A canteen out of hours works; a noisy workshop does not.</a:t>
            </a:r>
          </a:p>
          <a:p>
            <a:r>
              <a:rPr lang="en-GB" sz="1000" dirty="0"/>
              <a:t>Turn phones face down rather than banning them — people will want to photograph the support slide.</a:t>
            </a:r>
          </a:p>
          <a:p>
            <a:r>
              <a:rPr lang="en-GB" sz="1000" dirty="0"/>
              <a:t>Test the film on slide 7 with the sound on, before anyone arrives. If there is no internet, use the four moments listed on the slide instead and describe them.</a:t>
            </a:r>
          </a:p>
          <a:p>
            <a:r>
              <a:rPr lang="en-GB" sz="1000" dirty="0"/>
              <a:t>Print the sign-off sheet. Everyone present signs it, including you.</a:t>
            </a:r>
          </a:p>
          <a:p>
            <a:r>
              <a:rPr lang="en-GB" sz="1000" b="1" dirty="0"/>
              <a:t>The timing</a:t>
            </a:r>
          </a:p>
          <a:p>
            <a:r>
              <a:rPr lang="en-GB" sz="1000" dirty="0"/>
              <a:t>The core talk runs about 25 to 35 minutes, including the film and the three questions at the end. The timings against each section are a guide, not a target. If the room is quiet, you will be at the shorter end; if people are asking questions, take the longer end and let them.</a:t>
            </a:r>
          </a:p>
          <a:p>
            <a:r>
              <a:rPr lang="en-GB" sz="1000" b="1" dirty="0"/>
              <a:t>The tone</a:t>
            </a:r>
          </a:p>
          <a:p>
            <a:r>
              <a:rPr lang="en-GB" sz="1000" dirty="0"/>
              <a:t>Safety, not surveillance. Say that early and mean it.</a:t>
            </a:r>
          </a:p>
          <a:p>
            <a:r>
              <a:rPr lang="en-GB" sz="1000" dirty="0"/>
              <a:t>Nobody is in trouble, and this is not an investigation.</a:t>
            </a:r>
          </a:p>
          <a:p>
            <a:r>
              <a:rPr lang="en-GB" sz="1000" dirty="0"/>
              <a:t>Ask people not to use anyone by name as an example, including themselves. Situations, not people.</a:t>
            </a:r>
          </a:p>
          <a:p>
            <a:r>
              <a:rPr lang="en-GB" sz="1000" dirty="0"/>
              <a:t>If someone becomes upset, move on and offer a private word afterwards. Do not make it a discussion.</a:t>
            </a:r>
          </a:p>
          <a:p>
            <a:r>
              <a:rPr lang="en-GB" sz="1000" b="1" dirty="0"/>
              <a:t>The one rule for questions</a:t>
            </a:r>
          </a:p>
          <a:p>
            <a:r>
              <a:rPr lang="en-GB" sz="1000" dirty="0"/>
              <a:t>If you are asked anything you cannot answer — about the science, about someone’s medication, about what would happen in a particular case — park it. Say: “That is a fair question and I am not going to guess at it. I will write it down and get you a proper answer.”</a:t>
            </a:r>
          </a:p>
          <a:p>
            <a:r>
              <a:rPr lang="en-GB" sz="1000" dirty="0"/>
              <a:t>Write the question in the parked questions box on the sign-off sheet and pass the sheet to ⟨Policy owner⟩ after the talk. They resolve it against the policy, or through the organisation’s testing provider arrangements, and the answer comes back to whoever asked.</a:t>
            </a:r>
          </a:p>
          <a:p>
            <a:r>
              <a:rPr lang="en-GB" sz="1000" dirty="0"/>
              <a:t>Never guess. A confident wrong answer about testing is the single most damaging thing that can happen in one of these sessions.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Cover — welcome · about 1 minute</a:t>
            </a:r>
          </a:p>
          <a:p>
            <a:r>
              <a:rPr lang="en-GB" sz="1000" dirty="0"/>
              <a:t>Words in ⟨angle brackets⟩ are filled in from your policy before the talk. Read the SAY THIS text aloud, or put it in your own words if that lands better. The DO and ASK prompts are for you, not the room.</a:t>
            </a:r>
          </a:p>
          <a:p>
            <a:r>
              <a:rPr lang="en-GB" sz="1000" b="1" dirty="0"/>
              <a:t>SAY THIS</a:t>
            </a:r>
          </a:p>
          <a:p>
            <a:r>
              <a:rPr lang="en-GB" sz="1000" dirty="0"/>
              <a:t>Morning, everyone. Thanks for stopping. This is a short toolbox talk about drugs and alcohol at work, and it will take about half an hour.</a:t>
            </a:r>
          </a:p>
          <a:p>
            <a:r>
              <a:rPr lang="en-GB" sz="1000" dirty="0"/>
              <a:t>Before we start, two things. First, nobody is in trouble and this is not an investigation — it is a briefing, the same as any other safety briefing we do. Second, I am going to show you exactly how a test works, step by step, so that if you are ever asked to do one, you already know what happens.</a:t>
            </a:r>
          </a:p>
          <a:p>
            <a:r>
              <a:rPr lang="en-GB" sz="1000" dirty="0"/>
              <a:t>I did not write this and I am not an expert on it. It was put together with NIVHA Laboratory Services, who do the testing. If you ask me something I do not know, I will write it down and get you a proper answer afterwards rather than make one up.</a:t>
            </a:r>
          </a:p>
          <a:p>
            <a:r>
              <a:rPr lang="en-GB" sz="1000" b="1" dirty="0"/>
              <a:t>DO</a:t>
            </a:r>
          </a:p>
          <a:p>
            <a:r>
              <a:rPr lang="en-GB" sz="1000" dirty="0"/>
              <a:t>Have the sign-off sheet out where people can see it. Say it goes round at the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Why we are talking about this · about 2 minutes</a:t>
            </a:r>
          </a:p>
          <a:p>
            <a:r>
              <a:rPr lang="en-GB" sz="1000" b="1" dirty="0"/>
              <a:t>SAY THIS</a:t>
            </a:r>
          </a:p>
          <a:p>
            <a:r>
              <a:rPr lang="en-GB" sz="1000" dirty="0"/>
              <a:t>Here is what this is not. It is not about your weekend. It is not about your private life or what anybody does on their own time. Nobody is policing that and nobody wants to.</a:t>
            </a:r>
          </a:p>
          <a:p>
            <a:r>
              <a:rPr lang="en-GB" sz="1000" dirty="0"/>
              <a:t>The policy asks one question, and it is a narrow one: are you fit to do your work safely today? If the answer is yes, the policy never touches you. If the answer is no, the policy is the thing that stops you getting hurt.</a:t>
            </a:r>
          </a:p>
          <a:p>
            <a:r>
              <a:rPr lang="en-GB" sz="1000" dirty="0"/>
              <a:t>There is a duty on both sides here. The company has to protect everyone at work, so far as is reasonably practicable. And each of us has a duty not to be under the influence of anything to the point where we put ourselves or somebody else in danger.</a:t>
            </a:r>
          </a:p>
          <a:p>
            <a:r>
              <a:rPr lang="en-GB" sz="1000" dirty="0"/>
              <a:t>The other half of it is support, and I will come back to that near the end. Almost everybody who ends up in trouble over drink or drugs at work knew there was a problem beforehand and said nothing. There is a door in this policy for that moment.</a:t>
            </a:r>
          </a:p>
          <a:p>
            <a:r>
              <a:rPr lang="en-GB" sz="1000" b="1" dirty="0"/>
              <a:t>ASK</a:t>
            </a:r>
          </a:p>
          <a:p>
            <a:r>
              <a:rPr lang="en-GB" sz="1000" dirty="0"/>
              <a:t>Which three jobs on this site would go worst wrong if someone lost concentration for a second? Take a few answers and keep them in mind — you will refer back.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The scale of it — Northern Ireland version · about 2 minutes</a:t>
            </a:r>
          </a:p>
          <a:p>
            <a:r>
              <a:rPr lang="en-GB" sz="1000" dirty="0"/>
              <a:t>Read these notes only if you kept this version of the slide in the deck.</a:t>
            </a:r>
          </a:p>
          <a:p>
            <a:r>
              <a:rPr lang="en-GB" sz="1000" b="1" dirty="0"/>
              <a:t>SAY THIS</a:t>
            </a:r>
          </a:p>
          <a:p>
            <a:r>
              <a:rPr lang="en-GB" sz="1000" dirty="0"/>
              <a:t>I want to give you some numbers, because most people think this is somebody else’s problem, somewhere else.</a:t>
            </a:r>
          </a:p>
          <a:p>
            <a:r>
              <a:rPr lang="en-GB" sz="1000" dirty="0"/>
              <a:t>In Northern Ireland, two hundred and fifty-one drug-related deaths were registered in 2024, and the great majority of those met the definition of drug misuse.</a:t>
            </a:r>
          </a:p>
          <a:p>
            <a:r>
              <a:rPr lang="en-GB" sz="1000" dirty="0"/>
              <a:t>The single drug named most often was pregabalin, which is a prescription medicine, on just over a hundred of those certificates. That one is worth pausing on, because it breaks the assumption that this is only about something bought on a street corner.</a:t>
            </a:r>
          </a:p>
          <a:p>
            <a:r>
              <a:rPr lang="en-GB" sz="1000" dirty="0"/>
              <a:t>Opioids as a group appeared most often overall, and the highest rate was in the thirty-five to forty-four age group.</a:t>
            </a:r>
          </a:p>
          <a:p>
            <a:r>
              <a:rPr lang="en-GB" sz="1000" dirty="0"/>
              <a:t>These are not figures from a campaign group. They are from the statistics agency. And these are working-age people — people with jobs, in workplaces like this one.</a:t>
            </a:r>
          </a:p>
          <a:p>
            <a:r>
              <a:rPr lang="en-GB" sz="1000" b="1" dirty="0"/>
              <a:t>DO</a:t>
            </a:r>
          </a:p>
          <a:p>
            <a:r>
              <a:rPr lang="en-GB" sz="1000" dirty="0"/>
              <a:t>Read the numbers, let them land, and move on. Do not dwell. Somebody in the room may have lost a person this way.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The scale of it — Republic of Ireland version · about 2 minutes</a:t>
            </a:r>
          </a:p>
          <a:p>
            <a:r>
              <a:rPr lang="en-GB" sz="1000" dirty="0"/>
              <a:t>Read these notes only if you kept this version of the slide in the deck.</a:t>
            </a:r>
          </a:p>
          <a:p>
            <a:r>
              <a:rPr lang="en-GB" sz="1000" b="1" dirty="0"/>
              <a:t>SAY THIS</a:t>
            </a:r>
          </a:p>
          <a:p>
            <a:r>
              <a:rPr lang="en-GB" sz="1000" dirty="0"/>
              <a:t>I want to give you some numbers, because most people think this is somebody else’s problem, somewhere else.</a:t>
            </a:r>
          </a:p>
          <a:p>
            <a:r>
              <a:rPr lang="en-GB" sz="1000" dirty="0"/>
              <a:t>In Ireland, three hundred and forty-three drug poisoning deaths were recorded in 2022, which was the second year running that the figure fell.</a:t>
            </a:r>
          </a:p>
          <a:p>
            <a:r>
              <a:rPr lang="en-GB" sz="1000" dirty="0"/>
              <a:t>Cocaine was implicated in about a third of them. And cocaine poisoning deaths rose by two hundred and fifty-nine per cent between 2013 and 2022, the largest rise of any drug group.</a:t>
            </a:r>
          </a:p>
          <a:p>
            <a:r>
              <a:rPr lang="en-GB" sz="1000" dirty="0"/>
              <a:t>These are not figures from a campaign group. They come from the Health Research Board, which examines every case rather than sampling. And these are working-age people — people with jobs, in workplaces like this one.</a:t>
            </a:r>
          </a:p>
          <a:p>
            <a:r>
              <a:rPr lang="en-GB" sz="1000" b="1" dirty="0"/>
              <a:t>DO</a:t>
            </a:r>
          </a:p>
          <a:p>
            <a:r>
              <a:rPr lang="en-GB" sz="1000" dirty="0"/>
              <a:t>Read the numbers, let them land, and move on. Do not dwell. Somebody in the room may have lost a person this 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The scale of it — Great Britain version · about 2 minutes</a:t>
            </a:r>
          </a:p>
          <a:p>
            <a:r>
              <a:rPr lang="en-GB" sz="1000" dirty="0"/>
              <a:t>Read these notes only if you kept this version of the slide in the deck.</a:t>
            </a:r>
          </a:p>
          <a:p>
            <a:r>
              <a:rPr lang="en-GB" sz="1000" b="1" dirty="0"/>
              <a:t>SAY THIS</a:t>
            </a:r>
          </a:p>
          <a:p>
            <a:r>
              <a:rPr lang="en-GB" sz="1000" dirty="0"/>
              <a:t>I want to give you some numbers, because most people think this is somebody else’s problem, somewhere else.</a:t>
            </a:r>
          </a:p>
          <a:p>
            <a:r>
              <a:rPr lang="en-GB" sz="1000" dirty="0"/>
              <a:t>In England and Wales, five and a half thousand deaths related to drug poisoning were registered in 2024. That is the highest number since these figures began in 1993.</a:t>
            </a:r>
          </a:p>
          <a:p>
            <a:r>
              <a:rPr lang="en-GB" sz="1000" dirty="0"/>
              <a:t>Getting on for thirteen hundred of those involved cocaine, and that was a rise of more than fourteen per cent in a single year. The rate has gone up every year since 2012.</a:t>
            </a:r>
          </a:p>
          <a:p>
            <a:r>
              <a:rPr lang="en-GB" sz="1000" dirty="0"/>
              <a:t>These are not figures from a campaign group. They are from the statistics agency. And these are working-age people — people with jobs, in workplaces like this one.</a:t>
            </a:r>
          </a:p>
          <a:p>
            <a:r>
              <a:rPr lang="en-GB" sz="1000" b="1" dirty="0"/>
              <a:t>DO</a:t>
            </a:r>
          </a:p>
          <a:p>
            <a:r>
              <a:rPr lang="en-GB" sz="1000" dirty="0"/>
              <a:t>Read the numbers, let them land, and move on. Do not dwell. Somebody in the room may have lost a person this way.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What counts · about 2 minutes</a:t>
            </a:r>
          </a:p>
          <a:p>
            <a:r>
              <a:rPr lang="en-GB" sz="1000" b="1" dirty="0"/>
              <a:t>SAY THIS</a:t>
            </a:r>
          </a:p>
          <a:p>
            <a:r>
              <a:rPr lang="en-GB" sz="1000" dirty="0"/>
              <a:t>When the policy says drugs and alcohol, it means four things, and the last two catch people out.</a:t>
            </a:r>
          </a:p>
          <a:p>
            <a:r>
              <a:rPr lang="en-GB" sz="1000" dirty="0"/>
              <a:t>Alcohol — during working hours and paid breaks, and bear in mind it can still be affecting you the morning after a heavy night.</a:t>
            </a:r>
          </a:p>
          <a:p>
            <a:r>
              <a:rPr lang="en-GB" sz="1000" dirty="0"/>
              <a:t>Illegal drugs — cocaine is the one found most often in workplace samples now, with cannabis second.</a:t>
            </a:r>
          </a:p>
          <a:p>
            <a:r>
              <a:rPr lang="en-GB" sz="1000" dirty="0"/>
              <a:t>Prescription and pharmacy medicines — only where they are misused, or where something that affects your alertness has not been declared. Strong painkillers, some cough medicines, sedating antihistamines, sleeping tablets. The test does not know why something is in your system. Declaring is what supplies the why.</a:t>
            </a:r>
          </a:p>
          <a:p>
            <a:r>
              <a:rPr lang="en-GB" sz="1000" dirty="0"/>
              <a:t>And psychoactive substances — the things sold as legal highs. Nobody taking them knows what is actually in them, which is exactly the problem.</a:t>
            </a:r>
          </a:p>
          <a:p>
            <a:r>
              <a:rPr lang="en-GB" sz="1000" dirty="0"/>
              <a:t>To be clear: a prescribed medicine that you have declared, handled properly, is not a breach of the policy. An undeclared one is a different conversation.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Effects at work · about 2 minutes</a:t>
            </a:r>
          </a:p>
          <a:p>
            <a:r>
              <a:rPr lang="en-GB" sz="1000" b="1" dirty="0"/>
              <a:t>SAY THIS</a:t>
            </a:r>
          </a:p>
          <a:p>
            <a:r>
              <a:rPr lang="en-GB" sz="1000" dirty="0"/>
              <a:t>You do not need any science for this part. There are four things that go, and every one of them matters on this site.</a:t>
            </a:r>
          </a:p>
          <a:p>
            <a:r>
              <a:rPr lang="en-GB" sz="1000" dirty="0"/>
              <a:t>Judgement goes first. Risks look smaller than they are and shortcuts start to feel reasonable.</a:t>
            </a:r>
          </a:p>
          <a:p>
            <a:r>
              <a:rPr lang="en-GB" sz="1000" dirty="0"/>
              <a:t>Reaction time stretches — the gap between seeing something and doing something about it. Around moving plant, that gap is the whole margin of safety.</a:t>
            </a:r>
          </a:p>
          <a:p>
            <a:r>
              <a:rPr lang="en-GB" sz="1000" dirty="0"/>
              <a:t>Coordination and balance slip. Grip, footing, fine control. That shows up fast on a ladder or with a tool in your hand.</a:t>
            </a:r>
          </a:p>
          <a:p>
            <a:r>
              <a:rPr lang="en-GB" sz="1000" dirty="0"/>
              <a:t>And attention drifts, with tiredness that can last well past the effect itself.</a:t>
            </a:r>
          </a:p>
          <a:p>
            <a:r>
              <a:rPr lang="en-GB" sz="1000" dirty="0"/>
              <a:t>Here is the part worth remembering: the person affected is almost always the last one to notice. That is why the standard is fitness for work, and not just how you reckon you feel.</a:t>
            </a:r>
          </a:p>
          <a:p>
            <a:r>
              <a:rPr lang="en-GB" sz="1000" b="1" dirty="0"/>
              <a:t>ASK</a:t>
            </a:r>
          </a:p>
          <a:p>
            <a:r>
              <a:rPr lang="en-GB" sz="1000" dirty="0"/>
              <a:t>Think about the three jobs we named earlier. Which of those four would you least want to lose on that task?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Our policy, the rules here · about 3 minutes</a:t>
            </a:r>
          </a:p>
          <a:p>
            <a:r>
              <a:rPr lang="en-GB" sz="1000" b="1" dirty="0"/>
              <a:t>SAY THIS</a:t>
            </a:r>
          </a:p>
          <a:p>
            <a:r>
              <a:rPr lang="en-GB" sz="1000" dirty="0"/>
              <a:t>This is our own document, so let me tell you what it actually says.</a:t>
            </a:r>
          </a:p>
          <a:p>
            <a:r>
              <a:rPr lang="en-GB" sz="1000" dirty="0"/>
              <a:t>The standard is fitness for work. Not abstinence in your private life — fitness for work when you are here. During working hours and paid breaks there is no alcohol and no drugs, and if a substance could be affecting you, you do not start.</a:t>
            </a:r>
          </a:p>
          <a:p>
            <a:r>
              <a:rPr lang="en-GB" sz="1000" dirty="0"/>
              <a:t>It applies to everyone on site, and that includes contractors and visitors. If you supervise contractors, that is worth knowing.</a:t>
            </a:r>
          </a:p>
          <a:p>
            <a:r>
              <a:rPr lang="en-GB" sz="1000" dirty="0"/>
              <a:t>The testing that applies here is ⟨Testing types in your policy⟩.</a:t>
            </a:r>
          </a:p>
          <a:p>
            <a:r>
              <a:rPr lang="en-GB" sz="1000" dirty="0"/>
              <a:t>The policy is strict about breaches and I am not going to soften that. What I will say is that the process before any of that happens is the one I am about to walk you through, and it is built so that decisions rest on evidence.</a:t>
            </a:r>
          </a:p>
          <a:p>
            <a:r>
              <a:rPr lang="en-GB" sz="1000" dirty="0"/>
              <a:t>⟨Policy owner⟩ owns the policy and the full document is at ⟨Where the policy is published⟩. Read it once today rather than for the first time on a bad day.</a:t>
            </a:r>
          </a:p>
          <a:p>
            <a:r>
              <a:rPr lang="en-GB" sz="1000" b="1" dirty="0"/>
              <a:t>DO</a:t>
            </a:r>
          </a:p>
          <a:p>
            <a:r>
              <a:rPr lang="en-GB" sz="1000" dirty="0"/>
              <a:t>Read out only the testing types that actually apply here. If there is no testing programme, say so plainly and say that people would be consulted first if that ever changed.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How testing works — the film · about 5 minutes including the film</a:t>
            </a:r>
          </a:p>
          <a:p>
            <a:r>
              <a:rPr lang="en-GB" sz="1000" b="1" dirty="0"/>
              <a:t>SAY THIS</a:t>
            </a:r>
          </a:p>
          <a:p>
            <a:r>
              <a:rPr lang="en-GB" sz="1000" dirty="0"/>
              <a:t>Rather than describe this, I am going to show you. This is a short film of a mouth swab collection from start to finish.</a:t>
            </a:r>
          </a:p>
          <a:p>
            <a:r>
              <a:rPr lang="en-GB" sz="1000" dirty="0"/>
              <a:t>Before I play it, watch for four moments: the sealed kit being opened in front of the person, how the swab is handled and by whom, the tamper-evident seal going on, and the paperwork being checked and signed. That is the whole procedure.</a:t>
            </a:r>
          </a:p>
          <a:p>
            <a:r>
              <a:rPr lang="en-GB" sz="1000" dirty="0"/>
              <a:t>Nobody in the film is an employee of any client. It is a demonstration.</a:t>
            </a:r>
          </a:p>
          <a:p>
            <a:r>
              <a:rPr lang="en-GB" sz="1000" dirty="0"/>
              <a:t>[Play the film.]</a:t>
            </a:r>
          </a:p>
          <a:p>
            <a:r>
              <a:rPr lang="en-GB" sz="1000" dirty="0"/>
              <a:t>That paper trail has a name — chain of custody — and it sounds like jargon, but it is the best protection you have. From the moment a sample leaves your body there is a record of who had it, when, and what they did with it. It means nobody can suggest your sample got mixed up with somebody else’s or interfered with. And if any link in that chain is broken, the result is not defensible and cannot be used.</a:t>
            </a:r>
          </a:p>
          <a:p>
            <a:r>
              <a:rPr lang="en-GB" sz="1000" dirty="0"/>
              <a:t>You check the details, you sign, and you keep a copy.</a:t>
            </a:r>
          </a:p>
          <a:p>
            <a:r>
              <a:rPr lang="en-GB" sz="1000" dirty="0"/>
              <a:t>If the screen is negative, that is the end of it and you go back to work.</a:t>
            </a:r>
          </a:p>
          <a:p>
            <a:r>
              <a:rPr lang="en-GB" sz="1000" b="1" dirty="0"/>
              <a:t>ASK</a:t>
            </a:r>
          </a:p>
          <a:p>
            <a:r>
              <a:rPr lang="en-GB" sz="1000" dirty="0"/>
              <a:t>Was anything in that different from what you expected? Most people expect something far more intrusive, and it is worth letting that relief happen.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Screening and confirmation · about 3 minutes</a:t>
            </a:r>
          </a:p>
          <a:p>
            <a:r>
              <a:rPr lang="en-GB" sz="1000" b="1" dirty="0"/>
              <a:t>SAY THIS</a:t>
            </a:r>
          </a:p>
          <a:p>
            <a:r>
              <a:rPr lang="en-GB" sz="1000" dirty="0"/>
              <a:t>This next part is the most misunderstood thing about the whole subject, and getting it straight might save somebody here a very bad week.</a:t>
            </a:r>
          </a:p>
          <a:p>
            <a:r>
              <a:rPr lang="en-GB" sz="1000" dirty="0"/>
              <a:t>The device used on site is a screening device. It gives an indication. It does not identify a substance definitively and it is not evidence. That is why we do not use the word positive at that stage. The word is non-negative.</a:t>
            </a:r>
          </a:p>
          <a:p>
            <a:r>
              <a:rPr lang="en-GB" sz="1000" dirty="0"/>
              <a:t>A non-negative screen means one thing: further samples go to a laboratory. Nothing more than that.</a:t>
            </a:r>
          </a:p>
          <a:p>
            <a:r>
              <a:rPr lang="en-GB" sz="1000" dirty="0"/>
              <a:t>Confirmation is a completely different activity, done by a laboratory, using different methods, on separate samples, against that laboratory’s own current published cut-off schedule. That is the evidential step, and that is what produces a certificate.</a:t>
            </a:r>
          </a:p>
          <a:p>
            <a:r>
              <a:rPr lang="en-GB" sz="1000" dirty="0"/>
              <a:t>While that is happening, you are stood down from safety-critical work. That is a precaution, not a punishment and not a finding. A further sample is kept so that independent re-analysis can be asked for if the result is disputed.</a:t>
            </a:r>
          </a:p>
          <a:p>
            <a:r>
              <a:rPr lang="en-GB" sz="1000" dirty="0"/>
              <a:t>So, once more, because it matters: a non-negative screen is not a failed test. It is the point where the sample goes to a laboratory.</a:t>
            </a:r>
          </a:p>
          <a:p>
            <a:r>
              <a:rPr lang="en-GB" sz="1000" b="1" dirty="0"/>
              <a:t>DO</a:t>
            </a:r>
          </a:p>
          <a:p>
            <a:r>
              <a:rPr lang="en-GB" sz="1000" dirty="0"/>
              <a:t>Do not offer any numbers here — not levels, not timings. If you are asked, the honest answer is that the analysing laboratory publishes its own schedule and interprets the result against it. Park anything further.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Medication · about 3 minutes</a:t>
            </a:r>
          </a:p>
          <a:p>
            <a:r>
              <a:rPr lang="en-GB" sz="1000" b="1" dirty="0"/>
              <a:t>SAY THIS</a:t>
            </a:r>
          </a:p>
          <a:p>
            <a:r>
              <a:rPr lang="en-GB" sz="1000" dirty="0"/>
              <a:t>Three practical points, and for most people in this room these are the most useful three minutes of the talk.</a:t>
            </a:r>
          </a:p>
          <a:p>
            <a:r>
              <a:rPr lang="en-GB" sz="1000" dirty="0"/>
              <a:t>One: both prescribed medicines and things you buy at a pharmacy count. Codeine-containing painkillers, some cough medicines, sedating antihistamines, sleeping tablets, prescribed sedatives. The screening panel does not know why something is there.</a:t>
            </a:r>
          </a:p>
          <a:p>
            <a:r>
              <a:rPr lang="en-GB" sz="1000" dirty="0"/>
              <a:t>Two: declare it before, not after. Before a test, and before your first shift on something new. The confidential route is ⟨Medical declaration route⟩, and you use that rather than telling me what condition you have. You never have to tell your line manager your diagnosis. Declared beforehand, a finding that matches your prescription is explained before anybody could misread it. Declared afterwards, it looks like an excuse produced to fit a result, and that is a much harder road for you.</a:t>
            </a:r>
          </a:p>
          <a:p>
            <a:r>
              <a:rPr lang="en-GB" sz="1000" dirty="0"/>
              <a:t>Three: read the label. If it says may cause drowsiness, or do not drive, or do not operate machinery, that warning is about exactly the work some of you do. Tell somebody so the task can be looked at.</a:t>
            </a:r>
          </a:p>
          <a:p>
            <a:r>
              <a:rPr lang="en-GB" sz="1000" dirty="0"/>
              <a:t>On prescribed cannabis-based products, because it comes up every time: they are medication and they go through the same route. A clinician looks at the laboratory finding alongside your declared prescription. What I am not going to tell you — and what you should not believe from anyone — is that a prescription means nothing will be found. People have got themselves into real difficulty believing that.</a:t>
            </a:r>
          </a:p>
          <a:p>
            <a:r>
              <a:rPr lang="en-GB" sz="1000" dirty="0"/>
              <a:t>And CBD products are not tightly regulated. Some contain more than the label claims. If you use one, declare it the same way.</a:t>
            </a:r>
          </a:p>
          <a:p>
            <a:r>
              <a:rPr lang="en-GB" sz="1000" b="1" dirty="0"/>
              <a:t>ASK</a:t>
            </a:r>
          </a:p>
          <a:p>
            <a:r>
              <a:rPr lang="en-GB" sz="1000" dirty="0"/>
              <a:t>Has anyone here taken something over the counter that carried a drowsiness warning? Antihistamines, cold and flu remedies, strong painkillers — all ordinary, and none of it anybody’s fault.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Your rights · about 2 minutes</a:t>
            </a:r>
          </a:p>
          <a:p>
            <a:r>
              <a:rPr lang="en-GB" sz="1000" b="1" dirty="0"/>
              <a:t>SAY THIS</a:t>
            </a:r>
          </a:p>
          <a:p>
            <a:r>
              <a:rPr lang="en-GB" sz="1000" dirty="0"/>
              <a:t>Four things you are entitled to, and this is the part people are most anxious about and least often told.</a:t>
            </a:r>
          </a:p>
          <a:p>
            <a:r>
              <a:rPr lang="en-GB" sz="1000" dirty="0"/>
              <a:t>Consent. A sample is given with your agreement, after the procedure has been explained. You can ask for it to be explained again at any point, and you can ask questions throughout.</a:t>
            </a:r>
          </a:p>
          <a:p>
            <a:r>
              <a:rPr lang="en-GB" sz="1000" dirty="0"/>
              <a:t>Dignity. A private room is used — not the canteen, not the shop floor. Nobody stands over you in a way that would embarrass you.</a:t>
            </a:r>
          </a:p>
          <a:p>
            <a:r>
              <a:rPr lang="en-GB" sz="1000" dirty="0"/>
              <a:t>Confidentiality. A result is health information, and it has stronger protection than ordinary records. It goes to the authorised contacts named in the policy and to nobody else. If I am your supervisor, I am told whether you are fit for work. I am not told what was found. Nothing gets announced or discussed on the floor.</a:t>
            </a:r>
          </a:p>
          <a:p>
            <a:r>
              <a:rPr lang="en-GB" sz="1000" dirty="0"/>
              <a:t>And your own information. You can ask what is held about you, ask for a copy, and ask for anything inaccurate to be corrected. Records are kept only for as long as the policy says, and then disposed of securely.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Refusal and tampering · about 2 minutes</a:t>
            </a:r>
          </a:p>
          <a:p>
            <a:r>
              <a:rPr lang="en-GB" sz="1000" b="1" dirty="0"/>
              <a:t>SAY THIS</a:t>
            </a:r>
          </a:p>
          <a:p>
            <a:r>
              <a:rPr lang="en-GB" sz="1000" dirty="0"/>
              <a:t>One short section, said once and calmly, because it is better known today than discovered on the day.</a:t>
            </a:r>
          </a:p>
          <a:p>
            <a:r>
              <a:rPr lang="en-GB" sz="1000" dirty="0"/>
              <a:t>Refusing to give a sample without good reason is generally treated the same as a positive result. So is walking away, so is spinning it out until the collector has to leave, and so is going home when you have been asked to stay.</a:t>
            </a:r>
          </a:p>
          <a:p>
            <a:r>
              <a:rPr lang="en-GB" sz="1000" dirty="0"/>
              <a:t>Substituting a sample, watering it down or adding anything to it is treated as tampering, and it is the attempt that is the issue. The kits and the laboratory checks are designed to show that up.</a:t>
            </a:r>
          </a:p>
          <a:p>
            <a:r>
              <a:rPr lang="en-GB" sz="1000" dirty="0"/>
              <a:t>If there is a genuine reason you cannot provide a sample, say so at the time so it can be written down. That is a completely different thing from a refusal.</a:t>
            </a:r>
          </a:p>
          <a:p>
            <a:r>
              <a:rPr lang="en-GB" sz="1000" dirty="0"/>
              <a:t>Nobody is being asked to prove they are innocent here. The whole process exists so that decisions rest on evidence rather than somebody’s opinion on site.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Support — Northern Ireland version · about 2 minutes</a:t>
            </a:r>
          </a:p>
          <a:p>
            <a:r>
              <a:rPr lang="en-GB" sz="1000" dirty="0"/>
              <a:t>Read these notes only if you kept this version of the slide in the deck.</a:t>
            </a:r>
          </a:p>
          <a:p>
            <a:r>
              <a:rPr lang="en-GB" sz="1000" b="1" dirty="0"/>
              <a:t>SAY THIS</a:t>
            </a:r>
          </a:p>
          <a:p>
            <a:r>
              <a:rPr lang="en-GB" sz="1000" dirty="0"/>
              <a:t>This is the slide to photograph, and I will give you a moment to do it.</a:t>
            </a:r>
          </a:p>
          <a:p>
            <a:r>
              <a:rPr lang="en-GB" sz="1000" dirty="0"/>
              <a:t>If drink or drugs are becoming a problem, say so before it surfaces some other way. Coming forward yourself, before you are ever selected for a test, is treated as a health matter with support — not as a disciplinary matter. Being found out and coming forward are two different things, and the policy knows the difference.</a:t>
            </a:r>
          </a:p>
          <a:p>
            <a:r>
              <a:rPr lang="en-GB" sz="1000" dirty="0"/>
              <a:t>Inside here, the confidential route is ⟨Support contact⟩, and where an employee assistance programme is in place it is free and it does not go through your line manager.</a:t>
            </a:r>
          </a:p>
          <a:p>
            <a:r>
              <a:rPr lang="en-GB" sz="1000" dirty="0"/>
              <a:t>Outside, your GP can treat this as the health matter it is, and that involves your employer not at all. There are also the services listed on nidirect, and the addiction services run by Inspire. Both are open to anybody, at any stage.</a:t>
            </a:r>
          </a:p>
          <a:p>
            <a:r>
              <a:rPr lang="en-GB" sz="1000" dirty="0"/>
              <a:t>Asking for help is not a breach of this policy. Nothing said today should leave anybody thinking the safe move is silence.</a:t>
            </a:r>
          </a:p>
          <a:p>
            <a:r>
              <a:rPr lang="en-GB" sz="1000" b="1" dirty="0"/>
              <a:t>DO</a:t>
            </a:r>
          </a:p>
          <a:p>
            <a:r>
              <a:rPr lang="en-GB" sz="1000" dirty="0"/>
              <a:t>Pause and let people photograph the slide. Then say the last line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Support — Republic of Ireland version · about 2 minutes</a:t>
            </a:r>
          </a:p>
          <a:p>
            <a:r>
              <a:rPr lang="en-GB" sz="1000" dirty="0"/>
              <a:t>Read these notes only if you kept this version of the slide in the deck.</a:t>
            </a:r>
          </a:p>
          <a:p>
            <a:r>
              <a:rPr lang="en-GB" sz="1000" b="1" dirty="0"/>
              <a:t>SAY THIS</a:t>
            </a:r>
          </a:p>
          <a:p>
            <a:r>
              <a:rPr lang="en-GB" sz="1000" dirty="0"/>
              <a:t>This is the slide to photograph, and I will give you a moment to do it.</a:t>
            </a:r>
          </a:p>
          <a:p>
            <a:r>
              <a:rPr lang="en-GB" sz="1000" dirty="0"/>
              <a:t>If drink or drugs are becoming a problem, say so before it surfaces some other way. Coming forward yourself, before you are ever selected for a test, is treated as a health matter with support — not as a disciplinary matter. Being found out and coming forward are two different things, and the policy knows the difference.</a:t>
            </a:r>
          </a:p>
          <a:p>
            <a:r>
              <a:rPr lang="en-GB" sz="1000" dirty="0"/>
              <a:t>Inside here, the confidential route is ⟨Support contact⟩, and where an employee assistance programme is in place it is free and it does not go through your line manager.</a:t>
            </a:r>
          </a:p>
          <a:p>
            <a:r>
              <a:rPr lang="en-GB" sz="1000" dirty="0"/>
              <a:t>Outside, your GP can treat this as the health matter it is, and that involves your employer not at all. There is also the HSE Drugs and Alcohol Helpline, which is open to anybody, at any stage.</a:t>
            </a:r>
          </a:p>
          <a:p>
            <a:r>
              <a:rPr lang="en-GB" sz="1000" dirty="0"/>
              <a:t>Asking for help is not a breach of this policy. Nothing said today should leave anybody thinking the safe move is silence.</a:t>
            </a:r>
          </a:p>
          <a:p>
            <a:r>
              <a:rPr lang="en-GB" sz="1000" b="1" dirty="0"/>
              <a:t>DO</a:t>
            </a:r>
          </a:p>
          <a:p>
            <a:r>
              <a:rPr lang="en-GB" sz="1000" dirty="0"/>
              <a:t>Pause and let people photograph the slide. Then say the last line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Support — Great Britain version · about 2 minutes</a:t>
            </a:r>
          </a:p>
          <a:p>
            <a:r>
              <a:rPr lang="en-GB" sz="1000" dirty="0"/>
              <a:t>Read these notes only if you kept this version of the slide in the deck.</a:t>
            </a:r>
          </a:p>
          <a:p>
            <a:r>
              <a:rPr lang="en-GB" sz="1000" b="1" dirty="0"/>
              <a:t>SAY THIS</a:t>
            </a:r>
          </a:p>
          <a:p>
            <a:r>
              <a:rPr lang="en-GB" sz="1000" dirty="0"/>
              <a:t>This is the slide to photograph, and I will give you a moment to do it.</a:t>
            </a:r>
          </a:p>
          <a:p>
            <a:r>
              <a:rPr lang="en-GB" sz="1000" dirty="0"/>
              <a:t>If drink or drugs are becoming a problem, say so before it surfaces some other way. Coming forward yourself, before you are ever selected for a test, is treated as a health matter with support — not as a disciplinary matter. Being found out and coming forward are two different things, and the policy knows the difference.</a:t>
            </a:r>
          </a:p>
          <a:p>
            <a:r>
              <a:rPr lang="en-GB" sz="1000" dirty="0"/>
              <a:t>Inside here, the confidential route is ⟨Support contact⟩, and where an employee assistance programme is in place it is free and it does not go through your line manager.</a:t>
            </a:r>
          </a:p>
          <a:p>
            <a:r>
              <a:rPr lang="en-GB" sz="1000" dirty="0"/>
              <a:t>Outside, your GP can treat this as the health matter it is, and that involves your employer not at all. There are also the national services — FRANK for drugs and Drinkaware for alcohol. Look up their current contact details before the session so that you can give them out.</a:t>
            </a:r>
          </a:p>
          <a:p>
            <a:r>
              <a:rPr lang="en-GB" sz="1000" dirty="0"/>
              <a:t>Asking for help is not a breach of this policy. Nothing said today should leave anybody thinking the safe move is silence.</a:t>
            </a:r>
          </a:p>
          <a:p>
            <a:r>
              <a:rPr lang="en-GB" sz="1000" b="1" dirty="0"/>
              <a:t>DO</a:t>
            </a:r>
          </a:p>
          <a:p>
            <a:r>
              <a:rPr lang="en-GB" sz="1000" dirty="0"/>
              <a:t>Pause and let people photograph the slide. Then say the last line again.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Knowledge check · about 2 minutes</a:t>
            </a:r>
          </a:p>
          <a:p>
            <a:r>
              <a:rPr lang="en-GB" sz="1000" b="1" dirty="0"/>
              <a:t>SAY THIS</a:t>
            </a:r>
          </a:p>
          <a:p>
            <a:r>
              <a:rPr lang="en-GB" sz="1000" dirty="0"/>
              <a:t>Three quick questions before we finish. Hands up, nothing is written down and nothing is scored.</a:t>
            </a:r>
          </a:p>
          <a:p>
            <a:r>
              <a:rPr lang="en-GB" sz="1000" dirty="0"/>
              <a:t>One. What single question is the policy asking of you?</a:t>
            </a:r>
          </a:p>
          <a:p>
            <a:r>
              <a:rPr lang="en-GB" sz="1000" dirty="0"/>
              <a:t>— Whether you are fit to do your work safely today.</a:t>
            </a:r>
          </a:p>
          <a:p>
            <a:r>
              <a:rPr lang="en-GB" sz="1000" dirty="0"/>
              <a:t>Two. What does a non-negative screening result mean?</a:t>
            </a:r>
          </a:p>
          <a:p>
            <a:r>
              <a:rPr lang="en-GB" sz="1000" dirty="0"/>
              <a:t>— That the sample goes to a laboratory for confirmation. It is not a positive and it is not a fail.</a:t>
            </a:r>
          </a:p>
          <a:p>
            <a:r>
              <a:rPr lang="en-GB" sz="1000" dirty="0"/>
              <a:t>Three. When do you declare medication, and what do you not have to say?</a:t>
            </a:r>
          </a:p>
          <a:p>
            <a:r>
              <a:rPr lang="en-GB" sz="1000" dirty="0"/>
              <a:t>— Before a test, and before your first shift on anything new that carries a drowsiness or machinery warning. You never have to say what the condition is.</a:t>
            </a:r>
          </a:p>
          <a:p>
            <a:r>
              <a:rPr lang="en-GB" sz="1000" b="1" dirty="0"/>
              <a:t>DO</a:t>
            </a:r>
          </a:p>
          <a:p>
            <a:r>
              <a:rPr lang="en-GB" sz="1000" dirty="0"/>
              <a:t>Give the answer straight after each question rather than letting the room guess for long.</a:t>
            </a:r>
          </a:p>
          <a:p>
            <a:r>
              <a:rPr lang="en-GB" sz="1000" b="1" dirty="0"/>
              <a:t>Crib sheet — the five questions you will be asked</a:t>
            </a:r>
          </a:p>
          <a:p>
            <a:r>
              <a:rPr lang="en-GB" sz="1000" dirty="0"/>
              <a:t>These five come up in almost every session. Safe answers are below. Anything that goes further belongs on the sign-off sheet, not in an answer you invent.</a:t>
            </a:r>
          </a:p>
          <a:p>
            <a:r>
              <a:rPr lang="en-GB" sz="1000" b="1" dirty="0"/>
              <a:t>1.  “I have a prescription for medicinal cannabis. Where does that leave me?”</a:t>
            </a:r>
          </a:p>
          <a:p>
            <a:r>
              <a:rPr lang="en-GB" sz="1000" b="1" dirty="0"/>
              <a:t>SAY THIS</a:t>
            </a:r>
          </a:p>
          <a:p>
            <a:r>
              <a:rPr lang="en-GB" sz="1000" dirty="0"/>
              <a:t>It is medication, and it goes through the same route as any other prescription: declared confidentially in advance, then assessed through medical review, where a clinician looks at the laboratory finding alongside your declared prescription. Declared and reviewed properly, that is not a policy breach.</a:t>
            </a:r>
          </a:p>
          <a:p>
            <a:r>
              <a:rPr lang="en-GB" sz="1000" dirty="0"/>
              <a:t>Keep in mind: Never say a prescription means it will not show up. That is wrong and people have got into real difficulty believing it. Separately, the safety question stands on its own — if a medicine affects attention or coordination, the task may need to change.</a:t>
            </a:r>
          </a:p>
          <a:p>
            <a:r>
              <a:rPr lang="en-GB" sz="1000" b="1" dirty="0"/>
              <a:t>2.  “What about CBD? That is legal, isn’t it.”</a:t>
            </a:r>
          </a:p>
          <a:p>
            <a:r>
              <a:rPr lang="en-GB" sz="1000" b="1" dirty="0"/>
              <a:t>SAY THIS</a:t>
            </a:r>
          </a:p>
          <a:p>
            <a:r>
              <a:rPr lang="en-GB" sz="1000" dirty="0"/>
              <a:t>CBD products are not tightly regulated, and some have been found to contain more than the label claims, including THC. That is why you declare it through the same confidential route.</a:t>
            </a:r>
          </a:p>
          <a:p>
            <a:r>
              <a:rPr lang="en-GB" sz="1000" dirty="0"/>
              <a:t>Keep in mind: Do not get drawn into what is or is not legal to buy. The point for us is the declaration, not the shop.</a:t>
            </a:r>
          </a:p>
          <a:p>
            <a:r>
              <a:rPr lang="en-GB" sz="1000" b="1" dirty="0"/>
              <a:t>3.  “I am on prescribed medication. Am I in trouble?”</a:t>
            </a:r>
          </a:p>
          <a:p>
            <a:r>
              <a:rPr lang="en-GB" sz="1000" b="1" dirty="0"/>
              <a:t>SAY THIS</a:t>
            </a:r>
          </a:p>
          <a:p>
            <a:r>
              <a:rPr lang="en-GB" sz="1000" dirty="0"/>
              <a:t>No. A declared, prescribed medicine handled through medical review is not a disciplinary matter. You declare it confidentially, you do not have to tell your line manager the condition, and the clinical detail goes to the reviewing clinician rather than to management.</a:t>
            </a:r>
          </a:p>
          <a:p>
            <a:r>
              <a:rPr lang="en-GB" sz="1000" dirty="0"/>
              <a:t>Keep in mind: The one thing that matters is the order: declared before, not explained after.</a:t>
            </a:r>
          </a:p>
          <a:p>
            <a:r>
              <a:rPr lang="en-GB" sz="1000" b="1" dirty="0"/>
              <a:t>4.  “How long does it stay in your system?”</a:t>
            </a:r>
          </a:p>
          <a:p>
            <a:r>
              <a:rPr lang="en-GB" sz="1000" b="1" dirty="0"/>
              <a:t>SAY THIS</a:t>
            </a:r>
          </a:p>
          <a:p>
            <a:r>
              <a:rPr lang="en-GB" sz="1000" dirty="0"/>
              <a:t>It varies — by substance, by the person, and by how much and how often. That is why nobody sensible gives a figure. A result is interpreted by the analysing laboratory against its own current published cut-off schedule, and it is the laboratory that does the interpreting.</a:t>
            </a:r>
          </a:p>
          <a:p>
            <a:r>
              <a:rPr lang="en-GB" sz="1000" dirty="0"/>
              <a:t>Keep in mind: Give no figures of any kind here. If they push, park it on the sheet.</a:t>
            </a:r>
          </a:p>
          <a:p>
            <a:r>
              <a:rPr lang="en-GB" sz="1000" b="1" dirty="0"/>
              <a:t>5.  “What if I was drinking the night before?”</a:t>
            </a:r>
          </a:p>
          <a:p>
            <a:r>
              <a:rPr lang="en-GB" sz="1000" b="1" dirty="0"/>
              <a:t>SAY THIS</a:t>
            </a:r>
          </a:p>
          <a:p>
            <a:r>
              <a:rPr lang="en-GB" sz="1000" dirty="0"/>
              <a:t>Alcohol can still be present the next morning, and people routinely underestimate that. If you are in any doubt about whether you are fit, do not drive and do not start — say so instead. Nobody is disciplined for saying they are not fit before a shift begins.</a:t>
            </a:r>
          </a:p>
          <a:p>
            <a:r>
              <a:rPr lang="en-GB" sz="1000" dirty="0"/>
              <a:t>Keep in mind: No maths, no rules of thumb, no figures. The answer is the doubt test, not a calculation.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00" b="1" dirty="0"/>
              <a:t>Close · about 2 minutes</a:t>
            </a:r>
          </a:p>
          <a:p>
            <a:r>
              <a:rPr lang="en-GB" sz="1000" b="1" dirty="0"/>
              <a:t>SAY THIS</a:t>
            </a:r>
          </a:p>
          <a:p>
            <a:r>
              <a:rPr lang="en-GB" sz="1000" dirty="0"/>
              <a:t>If you forget everything else, keep three things.</a:t>
            </a:r>
          </a:p>
          <a:p>
            <a:r>
              <a:rPr lang="en-GB" sz="1000" dirty="0"/>
              <a:t>One: the policy asks one question, and it is about today, not about your private life.</a:t>
            </a:r>
          </a:p>
          <a:p>
            <a:r>
              <a:rPr lang="en-GB" sz="1000" dirty="0"/>
              <a:t>Two: a screening device indicates, a laboratory confirms, and a clinician reviews declared medication. Nothing about you gets decided on one device in a room.</a:t>
            </a:r>
          </a:p>
          <a:p>
            <a:r>
              <a:rPr lang="en-GB" sz="1000" dirty="0"/>
              <a:t>Three: declare your medication and ask for help early. Both of those are ordinary things to do.</a:t>
            </a:r>
          </a:p>
          <a:p>
            <a:r>
              <a:rPr lang="en-GB" sz="1000" dirty="0"/>
              <a:t>And the sentence this whole talk exists for: everyone who comes to work healthy and well goes home the same way. That is the standard, and it applies to every person here, including me.</a:t>
            </a:r>
          </a:p>
          <a:p>
            <a:r>
              <a:rPr lang="en-GB" sz="1000" dirty="0"/>
              <a:t>The sign-off sheet is going round now. Print your name, sign it, date it. It records that the policy was talked through with you, nothing more. If you asked something I could not answer, it is written on that sheet and it goes to ⟨Policy owner⟩, who will come back to you.</a:t>
            </a:r>
          </a:p>
          <a:p>
            <a:r>
              <a:rPr lang="en-GB" sz="1000" b="1" dirty="0"/>
              <a:t>DO</a:t>
            </a:r>
          </a:p>
          <a:p>
            <a:r>
              <a:rPr lang="en-GB" sz="1000" dirty="0"/>
              <a:t>Pass the sheet round and stay behind for a few minutes for anyone who wants a private word.</a:t>
            </a:r>
          </a:p>
          <a:p>
            <a:r>
              <a:rPr lang="en-GB" sz="1000" b="1" dirty="0"/>
              <a:t>After the talk</a:t>
            </a:r>
          </a:p>
          <a:p>
            <a:r>
              <a:rPr lang="en-GB" sz="1000" dirty="0"/>
              <a:t>Four things, and then you are finished.</a:t>
            </a:r>
          </a:p>
          <a:p>
            <a:r>
              <a:rPr lang="en-GB" sz="1000" dirty="0"/>
              <a:t>Check the sign-off sheet is complete. Every person present should have printed their name and signed, including you. Fill in the site, the date and the policy version at the top.</a:t>
            </a:r>
          </a:p>
          <a:p>
            <a:r>
              <a:rPr lang="en-GB" sz="1000" dirty="0"/>
              <a:t>File it. The completed sheet goes to ⟨Policy owner⟩ and is kept as the record that the policy was communicated. It records attendance, not a score.</a:t>
            </a:r>
          </a:p>
          <a:p>
            <a:r>
              <a:rPr lang="en-GB" sz="1000" dirty="0"/>
              <a:t>Pass on the parked questions. Anything written in the parked questions box goes to ⟨Policy owner⟩ with the sheet. They resolve each one against the policy, or through the organisation’s testing provider arrangements, and the answer goes back to whoever asked — by email to the team, or at the next briefing.</a:t>
            </a:r>
          </a:p>
          <a:p>
            <a:r>
              <a:rPr lang="en-GB" sz="1000" dirty="0"/>
              <a:t>Follow anything up quietly. If somebody asked for a private word, or asked for the support contact, deal with that the same day and keep it to yourself.</a:t>
            </a:r>
          </a:p>
          <a:p>
            <a:r>
              <a:rPr lang="en-GB" sz="1000" b="1" dirty="0"/>
              <a:t>Repeating the talk</a:t>
            </a:r>
          </a:p>
          <a:p>
            <a:r>
              <a:rPr lang="en-GB" sz="1000" dirty="0"/>
              <a:t>Run it again for anyone who was not there — nights, holidays, long-term absence — and for new starters as part of induction.</a:t>
            </a:r>
          </a:p>
          <a:p>
            <a:r>
              <a:rPr lang="en-GB" sz="1000" dirty="0"/>
              <a:t>Refresh it periodically, and always when the policy changes. Record the new policy version on the new sheet.</a:t>
            </a:r>
          </a:p>
          <a:p>
            <a:r>
              <a:rPr lang="en-GB" sz="1000" dirty="0"/>
              <a:t>If your policy or your testing arrangements change, ask ⟨Policy owner⟩ for the updated deck before running it again.</a:t>
            </a:r>
          </a:p>
          <a:p>
            <a:r>
              <a:rPr lang="en-GB" sz="1000" b="1" dirty="0"/>
              <a:t>Where questions go</a:t>
            </a:r>
          </a:p>
          <a:p>
            <a:r>
              <a:rPr lang="en-GB" sz="1000" dirty="0"/>
              <a:t>Questions raised in the session go to ⟨Policy owner⟩, who resolves them against the policy or through the organisation’s testing provider arrangements. Problems with the pack files themselves: NIVHA Laboratory Services · info@nivha.net · 02890 737942.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hse.gov.uk/alcoholdrugs/the-law.htm" TargetMode="External"/><Relationship Id="rId2" Type="http://schemas.openxmlformats.org/officeDocument/2006/relationships/hyperlink" Target="https://www.irishstatutebook.ie/eli/2005/act/10/section/13/enacted/en/html" TargetMode="External"/><Relationship Id="rId3" Type="http://schemas.openxmlformats.org/officeDocument/2006/relationships/hyperlink" Target="https://www.hsa.ie/eng/publications_and_forms/publications/occupational_health/intoxicants_at_work_information_sheet/"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nisra.gov.uk/publications/drug-related-and-drug-misuse-deaths-2014-2024"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hrb.ie/publication/drug-poisoning-deaths-in-ireland-in-2022/" TargetMode="External"/><Relationship Id="rId2" Type="http://schemas.openxmlformats.org/officeDocument/2006/relationships/hyperlink" Target="https://www.drugsandalcohol.ie/deaths-data/" TargetMode="External"/><Relationship Id="rId3" Type="http://schemas.openxmlformats.org/officeDocument/2006/relationships/hyperlink" Target="https://www.euda.europa.eu/publications/european-drug-report/2026/cocaine_en" TargetMode="External"/><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ons.gov.uk/peoplepopulationandcommunity/birthsdeathsandmarriages/deaths/bulletins/deathsrelatedtodrugpoisoninginenglandandwales/2024registrations"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hse.gov.uk/alcoholdrugs/"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youtu.be/_2tAEqwoOmI"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nidirect.gov.uk/articles/getting-help-drug-or-alcohol-problems" TargetMode="External"/><Relationship Id="rId2" Type="http://schemas.openxmlformats.org/officeDocument/2006/relationships/hyperlink" Target="https://www.inspirewellbeing.org/our-addiction-services/"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2.hse.ie/services/habit-addiction/drugs-and-alcohol-helpline/"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hse.gov.uk/alcoholdrugs/"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FFFFF"/>
          </a:solidFill>
          <a:ln/>
        </p:spPr>
      </p:sp>
      <p:sp>
        <p:nvSpPr>
          <p:cNvPr id="4" name="Shape 1"/>
          <p:cNvSpPr/>
          <p:nvPr/>
        </p:nvSpPr>
        <p:spPr>
          <a:xfrm>
            <a:off x="777240" y="502920"/>
            <a:ext cx="10637215" cy="713232"/>
          </a:xfrm>
          <a:prstGeom prst="rect">
            <a:avLst/>
          </a:prstGeom>
          <a:solidFill>
            <a:srgbClr val="3C3C3C"/>
          </a:solidFill>
          <a:ln/>
        </p:spPr>
      </p:sp>
      <p:sp>
        <p:nvSpPr>
          <p:cNvPr id="5" name="Text 2"/>
          <p:cNvSpPr/>
          <p:nvPr/>
        </p:nvSpPr>
        <p:spPr>
          <a:xfrm>
            <a:off x="777240" y="502920"/>
            <a:ext cx="10637215" cy="713232"/>
          </a:xfrm>
          <a:prstGeom prst="rect">
            <a:avLst/>
          </a:prstGeom>
          <a:noFill/>
          <a:ln/>
        </p:spPr>
        <p:txBody>
          <a:bodyPr wrap="square" lIns="0" tIns="0" rIns="0" bIns="0" rtlCol="0" anchor="ctr"/>
          <a:lstStyle/>
          <a:p>
            <a:pPr algn="ctr" indent="0" marL="0">
              <a:buNone/>
            </a:pPr>
            <a:r>
              <a:rPr lang="en-US" sz="2100" spc="200" kern="0" dirty="0">
                <a:solidFill>
                  <a:srgbClr val="FFFFFF"/>
                </a:solidFill>
                <a:latin typeface="Open Sans SemiBold" pitchFamily="34" charset="0"/>
                <a:ea typeface="Open Sans SemiBold" pitchFamily="34" charset="-122"/>
                <a:cs typeface="Open Sans SemiBold" pitchFamily="34" charset="-120"/>
              </a:rPr>
              <a:t>DELETE THIS SLIDE BEFORE PRESENTING</a:t>
            </a:r>
            <a:endParaRPr lang="en-US" sz="2100" dirty="0"/>
          </a:p>
        </p:txBody>
      </p:sp>
      <p:sp>
        <p:nvSpPr>
          <p:cNvPr id="6" name="Text 3"/>
          <p:cNvSpPr/>
          <p:nvPr/>
        </p:nvSpPr>
        <p:spPr>
          <a:xfrm>
            <a:off x="777240" y="1481328"/>
            <a:ext cx="10637215" cy="402336"/>
          </a:xfrm>
          <a:prstGeom prst="rect">
            <a:avLst/>
          </a:prstGeom>
          <a:noFill/>
          <a:ln/>
        </p:spPr>
        <p:txBody>
          <a:bodyPr wrap="square" lIns="0" tIns="0" rIns="0" bIns="0" rtlCol="0" anchor="t"/>
          <a:lstStyle/>
          <a:p>
            <a:pPr indent="0" marL="0">
              <a:buNone/>
            </a:pPr>
            <a:r>
              <a:rPr lang="en-US" sz="1800" dirty="0">
                <a:solidFill>
                  <a:srgbClr val="3C3C3C"/>
                </a:solidFill>
                <a:latin typeface="Open Sans SemiBold" pitchFamily="34" charset="0"/>
                <a:ea typeface="Open Sans SemiBold" pitchFamily="34" charset="-122"/>
                <a:cs typeface="Open Sans SemiBold" pitchFamily="34" charset="-120"/>
              </a:rPr>
              <a:t>Setup checklist for the person preparing this deck</a:t>
            </a:r>
            <a:endParaRPr lang="en-US" sz="1800" dirty="0"/>
          </a:p>
        </p:txBody>
      </p:sp>
      <p:sp>
        <p:nvSpPr>
          <p:cNvPr id="7" name="Text 4"/>
          <p:cNvSpPr/>
          <p:nvPr/>
        </p:nvSpPr>
        <p:spPr>
          <a:xfrm>
            <a:off x="777240" y="1993392"/>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1.</a:t>
            </a:r>
            <a:endParaRPr lang="en-US" sz="1400" dirty="0"/>
          </a:p>
        </p:txBody>
      </p:sp>
      <p:sp>
        <p:nvSpPr>
          <p:cNvPr id="8" name="Text 5"/>
          <p:cNvSpPr/>
          <p:nvPr/>
        </p:nvSpPr>
        <p:spPr>
          <a:xfrm>
            <a:off x="1188720" y="1993392"/>
            <a:ext cx="10134295" cy="493776"/>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Fill in the placeholders.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Every ⟨angle bracket⟩ token in the slides, the speaker notes and the sign-off sheet is filled in from your own policy before the talk.</a:t>
            </a:r>
            <a:endParaRPr lang="en-US" sz="1400" dirty="0"/>
          </a:p>
        </p:txBody>
      </p:sp>
      <p:sp>
        <p:nvSpPr>
          <p:cNvPr id="9" name="Text 6"/>
          <p:cNvSpPr/>
          <p:nvPr/>
        </p:nvSpPr>
        <p:spPr>
          <a:xfrm>
            <a:off x="777240" y="2670048"/>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2.</a:t>
            </a:r>
            <a:endParaRPr lang="en-US" sz="1400" dirty="0"/>
          </a:p>
        </p:txBody>
      </p:sp>
      <p:sp>
        <p:nvSpPr>
          <p:cNvPr id="10" name="Text 7"/>
          <p:cNvSpPr/>
          <p:nvPr/>
        </p:nvSpPr>
        <p:spPr>
          <a:xfrm>
            <a:off x="1188720" y="2670048"/>
            <a:ext cx="10134295" cy="493776"/>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Keep the slides flagged for your jurisdiction.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Two slides come in three versions — Northern Ireland, Republic of Ireland and Great Britain — labelled top right. Keep the one that matches where you operate and delete the other two.</a:t>
            </a:r>
            <a:endParaRPr lang="en-US" sz="1400" dirty="0"/>
          </a:p>
        </p:txBody>
      </p:sp>
      <p:sp>
        <p:nvSpPr>
          <p:cNvPr id="11" name="Text 8"/>
          <p:cNvSpPr/>
          <p:nvPr/>
        </p:nvSpPr>
        <p:spPr>
          <a:xfrm>
            <a:off x="777240" y="3346704"/>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3.</a:t>
            </a:r>
            <a:endParaRPr lang="en-US" sz="1400" dirty="0"/>
          </a:p>
        </p:txBody>
      </p:sp>
      <p:sp>
        <p:nvSpPr>
          <p:cNvPr id="12" name="Text 9"/>
          <p:cNvSpPr/>
          <p:nvPr/>
        </p:nvSpPr>
        <p:spPr>
          <a:xfrm>
            <a:off x="1188720" y="3346704"/>
            <a:ext cx="10134295" cy="246888"/>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Delete this slide.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Once the checklist is done, remove it so the deck opens on the cover.</a:t>
            </a:r>
            <a:endParaRPr lang="en-US" sz="1400" dirty="0"/>
          </a:p>
        </p:txBody>
      </p:sp>
      <p:sp>
        <p:nvSpPr>
          <p:cNvPr id="13" name="Text 10"/>
          <p:cNvSpPr/>
          <p:nvPr/>
        </p:nvSpPr>
        <p:spPr>
          <a:xfrm>
            <a:off x="777240" y="3776472"/>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4.</a:t>
            </a:r>
            <a:endParaRPr lang="en-US" sz="1400" dirty="0"/>
          </a:p>
        </p:txBody>
      </p:sp>
      <p:sp>
        <p:nvSpPr>
          <p:cNvPr id="14" name="Text 11"/>
          <p:cNvSpPr/>
          <p:nvPr/>
        </p:nvSpPr>
        <p:spPr>
          <a:xfrm>
            <a:off x="1188720" y="3776472"/>
            <a:ext cx="10134295" cy="246888"/>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Print the sign-off sheet.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One sheet, with enough rows for everyone attending, plus a pen that works.</a:t>
            </a:r>
            <a:endParaRPr lang="en-US" sz="1400" dirty="0"/>
          </a:p>
        </p:txBody>
      </p:sp>
      <p:sp>
        <p:nvSpPr>
          <p:cNvPr id="15" name="Text 12"/>
          <p:cNvSpPr/>
          <p:nvPr/>
        </p:nvSpPr>
        <p:spPr>
          <a:xfrm>
            <a:off x="777240" y="4206240"/>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5.</a:t>
            </a:r>
            <a:endParaRPr lang="en-US" sz="1400" dirty="0"/>
          </a:p>
        </p:txBody>
      </p:sp>
      <p:sp>
        <p:nvSpPr>
          <p:cNvPr id="16" name="Text 13"/>
          <p:cNvSpPr/>
          <p:nvPr/>
        </p:nvSpPr>
        <p:spPr>
          <a:xfrm>
            <a:off x="1188720" y="4206240"/>
            <a:ext cx="10134295" cy="493776"/>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Test the video with the sound on.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The short procedure film sits in the testing section. Play it once before the session, on the screen and speakers you will use.</a:t>
            </a:r>
            <a:endParaRPr lang="en-US" sz="1400" dirty="0"/>
          </a:p>
        </p:txBody>
      </p:sp>
      <p:sp>
        <p:nvSpPr>
          <p:cNvPr id="17" name="Text 14"/>
          <p:cNvSpPr/>
          <p:nvPr/>
        </p:nvSpPr>
        <p:spPr>
          <a:xfrm>
            <a:off x="777240" y="4882896"/>
            <a:ext cx="365760" cy="310896"/>
          </a:xfrm>
          <a:prstGeom prst="rect">
            <a:avLst/>
          </a:prstGeom>
          <a:noFill/>
          <a:ln/>
        </p:spPr>
        <p:txBody>
          <a:bodyPr wrap="square" lIns="0" tIns="0" rIns="0" bIns="0" rtlCol="0" anchor="t"/>
          <a:lstStyle/>
          <a:p>
            <a:pPr indent="0" marL="0">
              <a:buNone/>
            </a:pPr>
            <a:r>
              <a:rPr lang="en-US" sz="1400" dirty="0">
                <a:solidFill>
                  <a:srgbClr val="6A6A6A"/>
                </a:solidFill>
                <a:latin typeface="Open Sans SemiBold" pitchFamily="34" charset="0"/>
                <a:ea typeface="Open Sans SemiBold" pitchFamily="34" charset="-122"/>
                <a:cs typeface="Open Sans SemiBold" pitchFamily="34" charset="-120"/>
              </a:rPr>
              <a:t>6.</a:t>
            </a:r>
            <a:endParaRPr lang="en-US" sz="1400" dirty="0"/>
          </a:p>
        </p:txBody>
      </p:sp>
      <p:sp>
        <p:nvSpPr>
          <p:cNvPr id="18" name="Text 15"/>
          <p:cNvSpPr/>
          <p:nvPr/>
        </p:nvSpPr>
        <p:spPr>
          <a:xfrm>
            <a:off x="1188720" y="4882896"/>
            <a:ext cx="10134295" cy="493776"/>
          </a:xfrm>
          <a:prstGeom prst="rect">
            <a:avLst/>
          </a:prstGeom>
          <a:noFill/>
          <a:ln/>
        </p:spPr>
        <p:txBody>
          <a:bodyPr wrap="square" lIns="0" tIns="0" rIns="0" bIns="0" rtlCol="0" anchor="t"/>
          <a:lstStyle/>
          <a:p>
            <a:pPr indent="0" marL="0">
              <a:lnSpc>
                <a:spcPts val="1900"/>
              </a:lnSpc>
              <a:buNone/>
            </a:pPr>
            <a:r>
              <a:rPr lang="en-US" sz="1400" dirty="0">
                <a:solidFill>
                  <a:srgbClr val="3C3C3C"/>
                </a:solidFill>
                <a:latin typeface="Open Sans SemiBold" pitchFamily="34" charset="0"/>
                <a:ea typeface="Open Sans SemiBold" pitchFamily="34" charset="-122"/>
                <a:cs typeface="Open Sans SemiBold" pitchFamily="34" charset="-120"/>
              </a:rPr>
              <a:t>Allow 25 to 35 minutes.  </a:t>
            </a:r>
            <a:pPr indent="0" marL="0">
              <a:lnSpc>
                <a:spcPts val="1900"/>
              </a:lnSpc>
              <a:buNone/>
            </a:pPr>
            <a:r>
              <a:rPr lang="en-US" sz="1300" dirty="0">
                <a:solidFill>
                  <a:srgbClr val="5A5A5A"/>
                </a:solidFill>
                <a:latin typeface="Open Sans" pitchFamily="34" charset="0"/>
                <a:ea typeface="Open Sans" pitchFamily="34" charset="-122"/>
                <a:cs typeface="Open Sans" pitchFamily="34" charset="-120"/>
              </a:rPr>
              <a:t>That is the run time for the talk itself, including the film and the three questions at the end.</a:t>
            </a:r>
            <a:endParaRPr lang="en-US" sz="1400" dirty="0"/>
          </a:p>
        </p:txBody>
      </p:sp>
      <p:sp>
        <p:nvSpPr>
          <p:cNvPr id="19" name="Shape 16"/>
          <p:cNvSpPr/>
          <p:nvPr/>
        </p:nvSpPr>
        <p:spPr>
          <a:xfrm>
            <a:off x="777240" y="6053328"/>
            <a:ext cx="10637215" cy="0"/>
          </a:xfrm>
          <a:prstGeom prst="line">
            <a:avLst/>
          </a:prstGeom>
          <a:noFill/>
          <a:ln w="9525">
            <a:solidFill>
              <a:srgbClr val="C8C8C8"/>
            </a:solidFill>
            <a:prstDash val="solid"/>
          </a:ln>
        </p:spPr>
      </p:sp>
      <p:sp>
        <p:nvSpPr>
          <p:cNvPr id="20" name="Text 17"/>
          <p:cNvSpPr/>
          <p:nvPr/>
        </p:nvSpPr>
        <p:spPr>
          <a:xfrm>
            <a:off x="777240" y="6163056"/>
            <a:ext cx="10637215" cy="310896"/>
          </a:xfrm>
          <a:prstGeom prst="rect">
            <a:avLst/>
          </a:prstGeom>
          <a:noFill/>
          <a:ln/>
        </p:spPr>
        <p:txBody>
          <a:bodyPr wrap="square" lIns="0" tIns="0" rIns="0" bIns="0" rtlCol="0" anchor="ctr"/>
          <a:lstStyle/>
          <a:p>
            <a:pPr indent="0" marL="0">
              <a:buNone/>
            </a:pPr>
            <a:r>
              <a:rPr lang="en-US" sz="1150" dirty="0">
                <a:solidFill>
                  <a:srgbClr val="6A6A6A"/>
                </a:solidFill>
                <a:latin typeface="Open Sans" pitchFamily="34" charset="0"/>
                <a:ea typeface="Open Sans" pitchFamily="34" charset="-122"/>
                <a:cs typeface="Open Sans" pitchFamily="34" charset="-120"/>
              </a:rPr>
              <a:t>Problems with the pack files: info@nivha.net · 02890 737942</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pic>
        <p:nvPicPr>
          <p:cNvPr id="5" name="Image 0" descr="/home/user/workspace/nivha-website/public/assets/nivha-logo-lg.png">    </p:cNvPr>
          <p:cNvPicPr>
            <a:picLocks noChangeAspect="1"/>
          </p:cNvPicPr>
          <p:nvPr/>
        </p:nvPicPr>
        <p:blipFill>
          <a:blip r:embed="rId1"/>
          <a:stretch>
            <a:fillRect/>
          </a:stretch>
        </p:blipFill>
        <p:spPr>
          <a:xfrm>
            <a:off x="777240" y="777240"/>
            <a:ext cx="2743200" cy="614938"/>
          </a:xfrm>
          <a:prstGeom prst="rect">
            <a:avLst/>
          </a:prstGeom>
        </p:spPr>
      </p:pic>
      <p:sp>
        <p:nvSpPr>
          <p:cNvPr id="6" name="Shape 2"/>
          <p:cNvSpPr/>
          <p:nvPr/>
        </p:nvSpPr>
        <p:spPr>
          <a:xfrm>
            <a:off x="-45720" y="2286000"/>
            <a:ext cx="12283135" cy="2377440"/>
          </a:xfrm>
          <a:prstGeom prst="rect">
            <a:avLst/>
          </a:prstGeom>
          <a:solidFill>
            <a:srgbClr val="EAF4F7"/>
          </a:solidFill>
          <a:ln/>
        </p:spPr>
      </p:sp>
      <p:sp>
        <p:nvSpPr>
          <p:cNvPr id="7" name="Text 3"/>
          <p:cNvSpPr/>
          <p:nvPr/>
        </p:nvSpPr>
        <p:spPr>
          <a:xfrm>
            <a:off x="777240" y="2560320"/>
            <a:ext cx="10637215" cy="329184"/>
          </a:xfrm>
          <a:prstGeom prst="rect">
            <a:avLst/>
          </a:prstGeom>
          <a:noFill/>
          <a:ln/>
        </p:spPr>
        <p:txBody>
          <a:bodyPr wrap="square" lIns="0" tIns="0" rIns="0" bIns="0" rtlCol="0" anchor="ctr"/>
          <a:lstStyle/>
          <a:p>
            <a:pPr indent="0" marL="0">
              <a:buNone/>
            </a:pPr>
            <a:r>
              <a:rPr lang="en-US" sz="1300" spc="200" kern="0" dirty="0">
                <a:solidFill>
                  <a:srgbClr val="2A8BA3"/>
                </a:solidFill>
                <a:latin typeface="Open Sans SemiBold" pitchFamily="34" charset="0"/>
                <a:ea typeface="Open Sans SemiBold" pitchFamily="34" charset="-122"/>
                <a:cs typeface="Open Sans SemiBold" pitchFamily="34" charset="-120"/>
              </a:rPr>
              <a:t>Toolbox talk</a:t>
            </a:r>
            <a:endParaRPr lang="en-US" sz="1300" dirty="0"/>
          </a:p>
        </p:txBody>
      </p:sp>
      <p:sp>
        <p:nvSpPr>
          <p:cNvPr id="8" name="Text 4"/>
          <p:cNvSpPr/>
          <p:nvPr/>
        </p:nvSpPr>
        <p:spPr>
          <a:xfrm>
            <a:off x="777240" y="2926080"/>
            <a:ext cx="8625535" cy="914400"/>
          </a:xfrm>
          <a:prstGeom prst="rect">
            <a:avLst/>
          </a:prstGeom>
          <a:noFill/>
          <a:ln/>
        </p:spPr>
        <p:txBody>
          <a:bodyPr wrap="square" lIns="0" tIns="0" rIns="0" bIns="0" rtlCol="0" anchor="t"/>
          <a:lstStyle/>
          <a:p>
            <a:pPr indent="0" marL="0">
              <a:buNone/>
            </a:pPr>
            <a:r>
              <a:rPr lang="en-US" sz="4400" dirty="0">
                <a:solidFill>
                  <a:srgbClr val="2C2D2F"/>
                </a:solidFill>
                <a:latin typeface="Open Sans Light" pitchFamily="34" charset="0"/>
                <a:ea typeface="Open Sans Light" pitchFamily="34" charset="-122"/>
                <a:cs typeface="Open Sans Light" pitchFamily="34" charset="-120"/>
              </a:rPr>
              <a:t>Drugs and alcohol at work</a:t>
            </a:r>
            <a:endParaRPr lang="en-US" sz="4400" dirty="0"/>
          </a:p>
        </p:txBody>
      </p:sp>
      <p:sp>
        <p:nvSpPr>
          <p:cNvPr id="9" name="Text 5"/>
          <p:cNvSpPr/>
          <p:nvPr/>
        </p:nvSpPr>
        <p:spPr>
          <a:xfrm>
            <a:off x="777240" y="3931920"/>
            <a:ext cx="8625535" cy="365760"/>
          </a:xfrm>
          <a:prstGeom prst="rect">
            <a:avLst/>
          </a:prstGeom>
          <a:noFill/>
          <a:ln/>
        </p:spPr>
        <p:txBody>
          <a:bodyPr wrap="square" lIns="0" tIns="0" rIns="0" bIns="0" rtlCol="0" anchor="t"/>
          <a:lstStyle/>
          <a:p>
            <a:pPr indent="0" marL="0">
              <a:buNone/>
            </a:pPr>
            <a:r>
              <a:rPr lang="en-US" sz="1600" dirty="0">
                <a:solidFill>
                  <a:srgbClr val="63686C"/>
                </a:solidFill>
                <a:latin typeface="Open Sans" pitchFamily="34" charset="0"/>
                <a:ea typeface="Open Sans" pitchFamily="34" charset="-122"/>
                <a:cs typeface="Open Sans" pitchFamily="34" charset="-120"/>
              </a:rPr>
              <a:t>⟨Company name⟩ · ⟨Date⟩</a:t>
            </a:r>
            <a:endParaRPr lang="en-US" sz="1600" dirty="0"/>
          </a:p>
        </p:txBody>
      </p:sp>
      <p:sp>
        <p:nvSpPr>
          <p:cNvPr id="10" name="Text 6"/>
          <p:cNvSpPr/>
          <p:nvPr/>
        </p:nvSpPr>
        <p:spPr>
          <a:xfrm>
            <a:off x="777240" y="4892040"/>
            <a:ext cx="7498080" cy="365760"/>
          </a:xfrm>
          <a:prstGeom prst="rect">
            <a:avLst/>
          </a:prstGeom>
          <a:noFill/>
          <a:ln/>
        </p:spPr>
        <p:txBody>
          <a:bodyPr wrap="square" lIns="0" tIns="0" rIns="0" bIns="0" rtlCol="0" anchor="t"/>
          <a:lstStyle/>
          <a:p>
            <a:pPr indent="0" marL="0">
              <a:buNone/>
            </a:pPr>
            <a:r>
              <a:rPr lang="en-US" sz="1400" dirty="0">
                <a:solidFill>
                  <a:srgbClr val="2C2D2F"/>
                </a:solidFill>
                <a:latin typeface="Open Sans" pitchFamily="34" charset="0"/>
                <a:ea typeface="Open Sans" pitchFamily="34" charset="-122"/>
                <a:cs typeface="Open Sans" pitchFamily="34" charset="-120"/>
              </a:rPr>
              <a:t>Delivered by ⟨Presenter⟩ · about 25 to 35 minutes</a:t>
            </a:r>
            <a:endParaRPr lang="en-US" sz="1400" dirty="0"/>
          </a:p>
        </p:txBody>
      </p:sp>
      <p:sp>
        <p:nvSpPr>
          <p:cNvPr id="11" name="Text 7"/>
          <p:cNvSpPr/>
          <p:nvPr/>
        </p:nvSpPr>
        <p:spPr>
          <a:xfrm>
            <a:off x="777240" y="5285232"/>
            <a:ext cx="7498080" cy="329184"/>
          </a:xfrm>
          <a:prstGeom prst="rect">
            <a:avLst/>
          </a:prstGeom>
          <a:noFill/>
          <a:ln/>
        </p:spPr>
        <p:txBody>
          <a:bodyPr wrap="square" lIns="0" tIns="0" rIns="0" bIns="0" rtlCol="0" anchor="t"/>
          <a:lstStyle/>
          <a:p>
            <a:pPr indent="0" marL="0">
              <a:buNone/>
            </a:pPr>
            <a:r>
              <a:rPr lang="en-US" sz="1250" dirty="0">
                <a:solidFill>
                  <a:srgbClr val="63686C"/>
                </a:solidFill>
                <a:latin typeface="Open Sans" pitchFamily="34" charset="0"/>
                <a:ea typeface="Open Sans" pitchFamily="34" charset="-122"/>
                <a:cs typeface="Open Sans" pitchFamily="34" charset="-120"/>
              </a:rPr>
              <a:t>Prepared with NIVHA Laboratory Services</a:t>
            </a:r>
            <a:endParaRPr lang="en-US" sz="1250" dirty="0"/>
          </a:p>
        </p:txBody>
      </p:sp>
      <p:sp>
        <p:nvSpPr>
          <p:cNvPr id="12" name="Text 8"/>
          <p:cNvSpPr/>
          <p:nvPr/>
        </p:nvSpPr>
        <p:spPr>
          <a:xfrm>
            <a:off x="777240" y="5870448"/>
            <a:ext cx="7498080" cy="310896"/>
          </a:xfrm>
          <a:prstGeom prst="rect">
            <a:avLst/>
          </a:prstGeom>
          <a:noFill/>
          <a:ln/>
        </p:spPr>
        <p:txBody>
          <a:bodyPr wrap="square" lIns="0" tIns="0" rIns="0" bIns="0" rtlCol="0" anchor="t"/>
          <a:lstStyle/>
          <a:p>
            <a:pPr indent="0" marL="0">
              <a:buNone/>
            </a:pPr>
            <a:r>
              <a:rPr lang="en-US" sz="1150" i="1" dirty="0">
                <a:solidFill>
                  <a:srgbClr val="63686C"/>
                </a:solidFill>
                <a:latin typeface="Open Sans" pitchFamily="34" charset="0"/>
                <a:ea typeface="Open Sans" pitchFamily="34" charset="-122"/>
                <a:cs typeface="Open Sans" pitchFamily="34" charset="-120"/>
              </a:rPr>
              <a:t>Sign-off sheet accompanies this deck. The full delivery script is in the speaker notes.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01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Why we are here</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Why we are talking about this</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Safety, not surveillance. The policy asks one question about today.</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HSE — the law</a:t>
            </a:r>
            <a:pPr indent="0" marL="0">
              <a:buNone/>
            </a:pPr>
            <a:r>
              <a:rPr lang="en-US" sz="900" dirty="0">
                <a:solidFill>
                  <a:srgbClr val="63686C"/>
                </a:solidFill>
                <a:latin typeface="Open Sans" pitchFamily="34" charset="0"/>
                <a:ea typeface="Open Sans" pitchFamily="34" charset="-122"/>
                <a:cs typeface="Open Sans" pitchFamily="34" charset="-120"/>
              </a:rPr>
              <a:t> · </a:t>
            </a:r>
            <a:pPr indent="0" marL="0">
              <a:buNone/>
            </a:pPr>
            <a:r>
              <a:rPr lang="en-US" sz="900" u="sng" dirty="0">
                <a:solidFill>
                  <a:srgbClr val="1F6E82"/>
                </a:solidFill>
                <a:latin typeface="Open Sans" pitchFamily="34" charset="0"/>
                <a:ea typeface="Open Sans" pitchFamily="34" charset="-122"/>
                <a:cs typeface="Open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Safety, Health and Welfare at Work Act 2005, s.13</a:t>
            </a:r>
            <a:pPr indent="0" marL="0">
              <a:buNone/>
            </a:pPr>
            <a:r>
              <a:rPr lang="en-US" sz="900" dirty="0">
                <a:solidFill>
                  <a:srgbClr val="63686C"/>
                </a:solidFill>
                <a:latin typeface="Open Sans" pitchFamily="34" charset="0"/>
                <a:ea typeface="Open Sans" pitchFamily="34" charset="-122"/>
                <a:cs typeface="Open Sans" pitchFamily="34" charset="-120"/>
              </a:rPr>
              <a:t> · </a:t>
            </a:r>
            <a:pPr indent="0" marL="0">
              <a:buNone/>
            </a:pPr>
            <a:r>
              <a:rPr lang="en-US" sz="900" u="sng" dirty="0">
                <a:solidFill>
                  <a:srgbClr val="1F6E82"/>
                </a:solidFill>
                <a:latin typeface="Open Sans" pitchFamily="34" charset="0"/>
                <a:ea typeface="Open Sans" pitchFamily="34" charset="-122"/>
                <a:cs typeface="Open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HSA — intoxicants at work</a:t>
            </a:r>
            <a:endParaRPr lang="en-US" sz="900" dirty="0"/>
          </a:p>
        </p:txBody>
      </p:sp>
      <p:sp>
        <p:nvSpPr>
          <p:cNvPr id="7" name="Text 5"/>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9" name="Text 6"/>
          <p:cNvSpPr/>
          <p:nvPr/>
        </p:nvSpPr>
        <p:spPr>
          <a:xfrm>
            <a:off x="777240" y="2103120"/>
            <a:ext cx="8259775" cy="914400"/>
          </a:xfrm>
          <a:prstGeom prst="rect">
            <a:avLst/>
          </a:prstGeom>
          <a:noFill/>
          <a:ln/>
        </p:spPr>
        <p:txBody>
          <a:bodyPr wrap="square" lIns="0" tIns="0" rIns="0" bIns="0" rtlCol="0" anchor="t"/>
          <a:lstStyle/>
          <a:p>
            <a:pPr indent="0" marL="0">
              <a:lnSpc>
                <a:spcPts val="3400"/>
              </a:lnSpc>
              <a:buNone/>
            </a:pPr>
            <a:r>
              <a:rPr lang="en-US" sz="2500" dirty="0">
                <a:solidFill>
                  <a:srgbClr val="2A8BA3"/>
                </a:solidFill>
                <a:latin typeface="Open Sans SemiBold" pitchFamily="34" charset="0"/>
                <a:ea typeface="Open Sans SemiBold" pitchFamily="34" charset="-122"/>
                <a:cs typeface="Open Sans SemiBold" pitchFamily="34" charset="-120"/>
              </a:rPr>
              <a:t>The policy asks one question: are you fit to do your work safely today?</a:t>
            </a:r>
            <a:endParaRPr lang="en-US" sz="2500" dirty="0"/>
          </a:p>
        </p:txBody>
      </p:sp>
      <p:sp>
        <p:nvSpPr>
          <p:cNvPr id="10" name="Shape 7"/>
          <p:cNvSpPr/>
          <p:nvPr/>
        </p:nvSpPr>
        <p:spPr>
          <a:xfrm>
            <a:off x="777240" y="3200400"/>
            <a:ext cx="3301898" cy="1280160"/>
          </a:xfrm>
          <a:prstGeom prst="rect">
            <a:avLst/>
          </a:prstGeom>
          <a:solidFill>
            <a:srgbClr val="FFFFFF"/>
          </a:solidFill>
          <a:ln w="9525">
            <a:solidFill>
              <a:srgbClr val="DCE3E6"/>
            </a:solidFill>
            <a:prstDash val="solid"/>
          </a:ln>
        </p:spPr>
      </p:sp>
      <p:sp>
        <p:nvSpPr>
          <p:cNvPr id="11" name="Text 8"/>
          <p:cNvSpPr/>
          <p:nvPr/>
        </p:nvSpPr>
        <p:spPr>
          <a:xfrm>
            <a:off x="996696" y="3346704"/>
            <a:ext cx="286298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Not about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Your weekend, your private life, or judging anybody's choices. No moral test is being applied here.</a:t>
            </a:r>
            <a:endParaRPr lang="en-US" sz="1350" dirty="0"/>
          </a:p>
        </p:txBody>
      </p:sp>
      <p:sp>
        <p:nvSpPr>
          <p:cNvPr id="12" name="Shape 9"/>
          <p:cNvSpPr/>
          <p:nvPr/>
        </p:nvSpPr>
        <p:spPr>
          <a:xfrm>
            <a:off x="4444898" y="3200400"/>
            <a:ext cx="3301898" cy="1280160"/>
          </a:xfrm>
          <a:prstGeom prst="rect">
            <a:avLst/>
          </a:prstGeom>
          <a:solidFill>
            <a:srgbClr val="FFFFFF"/>
          </a:solidFill>
          <a:ln w="9525">
            <a:solidFill>
              <a:srgbClr val="DCE3E6"/>
            </a:solidFill>
            <a:prstDash val="solid"/>
          </a:ln>
        </p:spPr>
      </p:sp>
      <p:sp>
        <p:nvSpPr>
          <p:cNvPr id="13" name="Text 10"/>
          <p:cNvSpPr/>
          <p:nvPr/>
        </p:nvSpPr>
        <p:spPr>
          <a:xfrm>
            <a:off x="4664354" y="3346704"/>
            <a:ext cx="286298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About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Impairment at work, on this site, today — and the people working beside you who depend on you being sharp.</a:t>
            </a:r>
            <a:endParaRPr lang="en-US" sz="1350" dirty="0"/>
          </a:p>
        </p:txBody>
      </p:sp>
      <p:sp>
        <p:nvSpPr>
          <p:cNvPr id="14" name="Shape 11"/>
          <p:cNvSpPr/>
          <p:nvPr/>
        </p:nvSpPr>
        <p:spPr>
          <a:xfrm>
            <a:off x="8112557" y="3200400"/>
            <a:ext cx="3301898" cy="1280160"/>
          </a:xfrm>
          <a:prstGeom prst="rect">
            <a:avLst/>
          </a:prstGeom>
          <a:solidFill>
            <a:srgbClr val="FFFFFF"/>
          </a:solidFill>
          <a:ln w="9525">
            <a:solidFill>
              <a:srgbClr val="DCE3E6"/>
            </a:solidFill>
            <a:prstDash val="solid"/>
          </a:ln>
        </p:spPr>
      </p:sp>
      <p:sp>
        <p:nvSpPr>
          <p:cNvPr id="15" name="Text 12"/>
          <p:cNvSpPr/>
          <p:nvPr/>
        </p:nvSpPr>
        <p:spPr>
          <a:xfrm>
            <a:off x="8332013" y="3346704"/>
            <a:ext cx="286298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And about support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A route to ask for help before something goes wrong, which is not the same route as discipline.</a:t>
            </a:r>
            <a:endParaRPr lang="en-US" sz="1350" dirty="0"/>
          </a:p>
        </p:txBody>
      </p:sp>
      <p:sp>
        <p:nvSpPr>
          <p:cNvPr id="16" name="Text 13"/>
          <p:cNvSpPr/>
          <p:nvPr/>
        </p:nvSpPr>
        <p:spPr>
          <a:xfrm>
            <a:off x="777240" y="4754880"/>
            <a:ext cx="10225735" cy="822960"/>
          </a:xfrm>
          <a:prstGeom prst="rect">
            <a:avLst/>
          </a:prstGeom>
          <a:noFill/>
          <a:ln/>
        </p:spPr>
        <p:txBody>
          <a:bodyPr wrap="square" lIns="0" tIns="0" rIns="0" bIns="0" rtlCol="0" anchor="t"/>
          <a:lstStyle/>
          <a:p>
            <a:pPr marL="228600" indent="-228600">
              <a:lnSpc>
                <a:spcPts val="2000"/>
              </a:lnSpc>
              <a:spcAft>
                <a:spcPts val="800"/>
              </a:spcAft>
              <a:buSzPct val="100000"/>
              <a:buChar char="•"/>
            </a:pPr>
            <a:r>
              <a:rPr lang="en-US" sz="1300" dirty="0">
                <a:solidFill>
                  <a:srgbClr val="2C2D2F"/>
                </a:solidFill>
                <a:latin typeface="Open Sans" pitchFamily="34" charset="0"/>
                <a:ea typeface="Open Sans" pitchFamily="34" charset="-122"/>
                <a:cs typeface="Open Sans" pitchFamily="34" charset="-120"/>
              </a:rPr>
              <a:t>Your employer must protect the health, safety and welfare of everyone at work, so far as is reasonably practicable</a:t>
            </a:r>
            <a:endParaRPr lang="en-US" sz="1300" dirty="0"/>
          </a:p>
          <a:p>
            <a:pPr marL="228600" indent="-228600">
              <a:lnSpc>
                <a:spcPts val="2000"/>
              </a:lnSpc>
              <a:spcAft>
                <a:spcPts val="800"/>
              </a:spcAft>
              <a:buSzPct val="100000"/>
              <a:buChar char="•"/>
            </a:pPr>
            <a:r>
              <a:rPr lang="en-US" sz="1300" dirty="0">
                <a:solidFill>
                  <a:srgbClr val="2C2D2F"/>
                </a:solidFill>
                <a:latin typeface="Open Sans" pitchFamily="34" charset="0"/>
                <a:ea typeface="Open Sans" pitchFamily="34" charset="-122"/>
                <a:cs typeface="Open Sans" pitchFamily="34" charset="-120"/>
              </a:rPr>
              <a:t>You must not be under the influence of an intoxicant to the extent that you endanger yourself or anyone else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01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The scale of it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The scale of it</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Official Northern Ireland figures, so that nobody thinks this is a rare problem somewhere else.</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NISRA</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Northern Ireland version — keep if you operate in NI, delete the others</a:t>
            </a:r>
            <a:endParaRPr lang="en-US" sz="1000" dirty="0"/>
          </a:p>
        </p:txBody>
      </p:sp>
      <p:sp>
        <p:nvSpPr>
          <p:cNvPr id="8" name="Text 6"/>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0" name="Text 7"/>
          <p:cNvSpPr/>
          <p:nvPr/>
        </p:nvSpPr>
        <p:spPr>
          <a:xfrm>
            <a:off x="777240"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251</a:t>
            </a:r>
            <a:endParaRPr lang="en-US" sz="4400" dirty="0"/>
          </a:p>
        </p:txBody>
      </p:sp>
      <p:sp>
        <p:nvSpPr>
          <p:cNvPr id="11" name="Text 8"/>
          <p:cNvSpPr/>
          <p:nvPr/>
        </p:nvSpPr>
        <p:spPr>
          <a:xfrm>
            <a:off x="777240"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drug-related deaths registered in Northern Ireland in 2024, of which 219 met the definition of drug misuse</a:t>
            </a:r>
            <a:endParaRPr lang="en-US" sz="1300" dirty="0"/>
          </a:p>
        </p:txBody>
      </p:sp>
      <p:sp>
        <p:nvSpPr>
          <p:cNvPr id="12" name="Text 9"/>
          <p:cNvSpPr/>
          <p:nvPr/>
        </p:nvSpPr>
        <p:spPr>
          <a:xfrm>
            <a:off x="4444898"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101</a:t>
            </a:r>
            <a:endParaRPr lang="en-US" sz="4400" dirty="0"/>
          </a:p>
        </p:txBody>
      </p:sp>
      <p:sp>
        <p:nvSpPr>
          <p:cNvPr id="13" name="Text 10"/>
          <p:cNvSpPr/>
          <p:nvPr/>
        </p:nvSpPr>
        <p:spPr>
          <a:xfrm>
            <a:off x="4444898"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of those 251 certificates named pregabalin, a prescription medicine — the single drug named most often</a:t>
            </a:r>
            <a:endParaRPr lang="en-US" sz="1300" dirty="0"/>
          </a:p>
        </p:txBody>
      </p:sp>
      <p:sp>
        <p:nvSpPr>
          <p:cNvPr id="14" name="Text 11"/>
          <p:cNvSpPr/>
          <p:nvPr/>
        </p:nvSpPr>
        <p:spPr>
          <a:xfrm>
            <a:off x="8112557"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131</a:t>
            </a:r>
            <a:endParaRPr lang="en-US" sz="4400" dirty="0"/>
          </a:p>
        </p:txBody>
      </p:sp>
      <p:sp>
        <p:nvSpPr>
          <p:cNvPr id="15" name="Text 12"/>
          <p:cNvSpPr/>
          <p:nvPr/>
        </p:nvSpPr>
        <p:spPr>
          <a:xfrm>
            <a:off x="8112557"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certificates named opioids, the drug group appearing most often, and the 35 to 44 age group had the highest rate</a:t>
            </a:r>
            <a:endParaRPr lang="en-US" sz="1300" dirty="0"/>
          </a:p>
        </p:txBody>
      </p:sp>
      <p:sp>
        <p:nvSpPr>
          <p:cNvPr id="16" name="Text 13"/>
          <p:cNvSpPr/>
          <p:nvPr/>
        </p:nvSpPr>
        <p:spPr>
          <a:xfrm>
            <a:off x="777240" y="4754880"/>
            <a:ext cx="9905695" cy="502920"/>
          </a:xfrm>
          <a:prstGeom prst="rect">
            <a:avLst/>
          </a:prstGeom>
          <a:noFill/>
          <a:ln/>
        </p:spPr>
        <p:txBody>
          <a:bodyPr wrap="square" lIns="0" tIns="0" rIns="0" bIns="0" rtlCol="0" anchor="t"/>
          <a:lstStyle/>
          <a:p>
            <a:pPr indent="0" marL="0">
              <a:lnSpc>
                <a:spcPts val="2100"/>
              </a:lnSpc>
              <a:buNone/>
            </a:pPr>
            <a:r>
              <a:rPr lang="en-US" sz="1450" dirty="0">
                <a:solidFill>
                  <a:srgbClr val="2C2D2F"/>
                </a:solidFill>
                <a:latin typeface="Open Sans" pitchFamily="34" charset="0"/>
                <a:ea typeface="Open Sans" pitchFamily="34" charset="-122"/>
                <a:cs typeface="Open Sans" pitchFamily="34" charset="-120"/>
              </a:rPr>
              <a:t>These are working-age people. On the numbers, in any large workforce there will be people affected, and most will believe it never touches their work.</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01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The scale of it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The scale of it</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Official Republic of Ireland figures, so that nobody thinks this is a rare problem somewhere else.</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HRB National Drug-Related Deaths Index</a:t>
            </a:r>
            <a:pPr indent="0" marL="0">
              <a:buNone/>
            </a:pPr>
            <a:r>
              <a:rPr lang="en-US" sz="900" dirty="0">
                <a:solidFill>
                  <a:srgbClr val="63686C"/>
                </a:solidFill>
                <a:latin typeface="Open Sans" pitchFamily="34" charset="0"/>
                <a:ea typeface="Open Sans" pitchFamily="34" charset="-122"/>
                <a:cs typeface="Open Sans" pitchFamily="34" charset="-120"/>
              </a:rPr>
              <a:t> · </a:t>
            </a:r>
            <a:pPr indent="0" marL="0">
              <a:buNone/>
            </a:pPr>
            <a:r>
              <a:rPr lang="en-US" sz="900" u="sng" dirty="0">
                <a:solidFill>
                  <a:srgbClr val="1F6E82"/>
                </a:solidFill>
                <a:latin typeface="Open Sans" pitchFamily="34" charset="0"/>
                <a:ea typeface="Open Sans" pitchFamily="34" charset="-122"/>
                <a:cs typeface="Open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HRB deaths data</a:t>
            </a:r>
            <a:pPr indent="0" marL="0">
              <a:buNone/>
            </a:pPr>
            <a:r>
              <a:rPr lang="en-US" sz="900" dirty="0">
                <a:solidFill>
                  <a:srgbClr val="63686C"/>
                </a:solidFill>
                <a:latin typeface="Open Sans" pitchFamily="34" charset="0"/>
                <a:ea typeface="Open Sans" pitchFamily="34" charset="-122"/>
                <a:cs typeface="Open Sans" pitchFamily="34" charset="-120"/>
              </a:rPr>
              <a:t> · </a:t>
            </a:r>
            <a:pPr indent="0" marL="0">
              <a:buNone/>
            </a:pPr>
            <a:r>
              <a:rPr lang="en-US" sz="900" u="sng" dirty="0">
                <a:solidFill>
                  <a:srgbClr val="1F6E82"/>
                </a:solidFill>
                <a:latin typeface="Open Sans" pitchFamily="34" charset="0"/>
                <a:ea typeface="Open Sans" pitchFamily="34" charset="-122"/>
                <a:cs typeface="Open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EUDA European Drug Report 2026 — cocaine</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Republic of Ireland version — keep if you operate in ROI, delete the others</a:t>
            </a:r>
            <a:endParaRPr lang="en-US" sz="1000" dirty="0"/>
          </a:p>
        </p:txBody>
      </p:sp>
      <p:sp>
        <p:nvSpPr>
          <p:cNvPr id="8" name="Text 6"/>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0" name="Text 7"/>
          <p:cNvSpPr/>
          <p:nvPr/>
        </p:nvSpPr>
        <p:spPr>
          <a:xfrm>
            <a:off x="777240"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343</a:t>
            </a:r>
            <a:endParaRPr lang="en-US" sz="4400" dirty="0"/>
          </a:p>
        </p:txBody>
      </p:sp>
      <p:sp>
        <p:nvSpPr>
          <p:cNvPr id="11" name="Text 8"/>
          <p:cNvSpPr/>
          <p:nvPr/>
        </p:nvSpPr>
        <p:spPr>
          <a:xfrm>
            <a:off x="777240"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drug poisoning deaths recorded in Ireland in 2022, the second consecutive annual fall</a:t>
            </a:r>
            <a:endParaRPr lang="en-US" sz="1300" dirty="0"/>
          </a:p>
        </p:txBody>
      </p:sp>
      <p:sp>
        <p:nvSpPr>
          <p:cNvPr id="12" name="Text 9"/>
          <p:cNvSpPr/>
          <p:nvPr/>
        </p:nvSpPr>
        <p:spPr>
          <a:xfrm>
            <a:off x="4444898"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33.5%</a:t>
            </a:r>
            <a:endParaRPr lang="en-US" sz="4400" dirty="0"/>
          </a:p>
        </p:txBody>
      </p:sp>
      <p:sp>
        <p:nvSpPr>
          <p:cNvPr id="13" name="Text 10"/>
          <p:cNvSpPr/>
          <p:nvPr/>
        </p:nvSpPr>
        <p:spPr>
          <a:xfrm>
            <a:off x="4444898"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of those deaths had cocaine implicated — around one in three</a:t>
            </a:r>
            <a:endParaRPr lang="en-US" sz="1300" dirty="0"/>
          </a:p>
        </p:txBody>
      </p:sp>
      <p:sp>
        <p:nvSpPr>
          <p:cNvPr id="14" name="Text 11"/>
          <p:cNvSpPr/>
          <p:nvPr/>
        </p:nvSpPr>
        <p:spPr>
          <a:xfrm>
            <a:off x="8112557"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259%</a:t>
            </a:r>
            <a:endParaRPr lang="en-US" sz="4400" dirty="0"/>
          </a:p>
        </p:txBody>
      </p:sp>
      <p:sp>
        <p:nvSpPr>
          <p:cNvPr id="15" name="Text 12"/>
          <p:cNvSpPr/>
          <p:nvPr/>
        </p:nvSpPr>
        <p:spPr>
          <a:xfrm>
            <a:off x="8112557"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rise in cocaine poisoning deaths between 2013 and 2022, the largest rise of any drug group</a:t>
            </a:r>
            <a:endParaRPr lang="en-US" sz="1300" dirty="0"/>
          </a:p>
        </p:txBody>
      </p:sp>
      <p:sp>
        <p:nvSpPr>
          <p:cNvPr id="16" name="Text 13"/>
          <p:cNvSpPr/>
          <p:nvPr/>
        </p:nvSpPr>
        <p:spPr>
          <a:xfrm>
            <a:off x="777240" y="4754880"/>
            <a:ext cx="9905695" cy="502920"/>
          </a:xfrm>
          <a:prstGeom prst="rect">
            <a:avLst/>
          </a:prstGeom>
          <a:noFill/>
          <a:ln/>
        </p:spPr>
        <p:txBody>
          <a:bodyPr wrap="square" lIns="0" tIns="0" rIns="0" bIns="0" rtlCol="0" anchor="t"/>
          <a:lstStyle/>
          <a:p>
            <a:pPr indent="0" marL="0">
              <a:lnSpc>
                <a:spcPts val="2100"/>
              </a:lnSpc>
              <a:buNone/>
            </a:pPr>
            <a:r>
              <a:rPr lang="en-US" sz="1450" dirty="0">
                <a:solidFill>
                  <a:srgbClr val="2C2D2F"/>
                </a:solidFill>
                <a:latin typeface="Open Sans" pitchFamily="34" charset="0"/>
                <a:ea typeface="Open Sans" pitchFamily="34" charset="-122"/>
                <a:cs typeface="Open Sans" pitchFamily="34" charset="-120"/>
              </a:rPr>
              <a:t>These are working-age people. On the numbers, in any large workforce there will be people affected, and most will believe it never touches their work.</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01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The scale of it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The scale of it</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Official figures for England and Wales, so that nobody thinks this is a rare problem somewhere else.</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ONS</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Great Britain version — keep if you operate in GB, delete the others</a:t>
            </a:r>
            <a:endParaRPr lang="en-US" sz="1000" dirty="0"/>
          </a:p>
        </p:txBody>
      </p:sp>
      <p:sp>
        <p:nvSpPr>
          <p:cNvPr id="8" name="Text 6"/>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0" name="Text 7"/>
          <p:cNvSpPr/>
          <p:nvPr/>
        </p:nvSpPr>
        <p:spPr>
          <a:xfrm>
            <a:off x="777240"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5,565</a:t>
            </a:r>
            <a:endParaRPr lang="en-US" sz="4400" dirty="0"/>
          </a:p>
        </p:txBody>
      </p:sp>
      <p:sp>
        <p:nvSpPr>
          <p:cNvPr id="11" name="Text 8"/>
          <p:cNvSpPr/>
          <p:nvPr/>
        </p:nvSpPr>
        <p:spPr>
          <a:xfrm>
            <a:off x="777240"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deaths related to drug poisoning registered in England and Wales in 2024 — the highest number since the series began in 1993</a:t>
            </a:r>
            <a:endParaRPr lang="en-US" sz="1300" dirty="0"/>
          </a:p>
        </p:txBody>
      </p:sp>
      <p:sp>
        <p:nvSpPr>
          <p:cNvPr id="12" name="Text 9"/>
          <p:cNvSpPr/>
          <p:nvPr/>
        </p:nvSpPr>
        <p:spPr>
          <a:xfrm>
            <a:off x="4444898"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1,279</a:t>
            </a:r>
            <a:endParaRPr lang="en-US" sz="4400" dirty="0"/>
          </a:p>
        </p:txBody>
      </p:sp>
      <p:sp>
        <p:nvSpPr>
          <p:cNvPr id="13" name="Text 10"/>
          <p:cNvSpPr/>
          <p:nvPr/>
        </p:nvSpPr>
        <p:spPr>
          <a:xfrm>
            <a:off x="4444898"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of those deaths involved cocaine, a rise of 14.4% in a single year</a:t>
            </a:r>
            <a:endParaRPr lang="en-US" sz="1300" dirty="0"/>
          </a:p>
        </p:txBody>
      </p:sp>
      <p:sp>
        <p:nvSpPr>
          <p:cNvPr id="14" name="Text 11"/>
          <p:cNvSpPr/>
          <p:nvPr/>
        </p:nvSpPr>
        <p:spPr>
          <a:xfrm>
            <a:off x="8112557" y="2331720"/>
            <a:ext cx="3301898" cy="868680"/>
          </a:xfrm>
          <a:prstGeom prst="rect">
            <a:avLst/>
          </a:prstGeom>
          <a:noFill/>
          <a:ln/>
        </p:spPr>
        <p:txBody>
          <a:bodyPr wrap="square" lIns="0" tIns="0" rIns="0" bIns="0" rtlCol="0" anchor="t"/>
          <a:lstStyle/>
          <a:p>
            <a:pPr indent="0" marL="0">
              <a:buNone/>
            </a:pPr>
            <a:r>
              <a:rPr lang="en-US" sz="4400" dirty="0">
                <a:solidFill>
                  <a:srgbClr val="2A8BA3"/>
                </a:solidFill>
                <a:latin typeface="Open Sans Light" pitchFamily="34" charset="0"/>
                <a:ea typeface="Open Sans Light" pitchFamily="34" charset="-122"/>
                <a:cs typeface="Open Sans Light" pitchFamily="34" charset="-120"/>
              </a:rPr>
              <a:t>2012</a:t>
            </a:r>
            <a:endParaRPr lang="en-US" sz="4400" dirty="0"/>
          </a:p>
        </p:txBody>
      </p:sp>
      <p:sp>
        <p:nvSpPr>
          <p:cNvPr id="15" name="Text 12"/>
          <p:cNvSpPr/>
          <p:nvPr/>
        </p:nvSpPr>
        <p:spPr>
          <a:xfrm>
            <a:off x="8112557" y="3227832"/>
            <a:ext cx="3301898" cy="1280160"/>
          </a:xfrm>
          <a:prstGeom prst="rect">
            <a:avLst/>
          </a:prstGeom>
          <a:noFill/>
          <a:ln/>
        </p:spPr>
        <p:txBody>
          <a:bodyPr wrap="square" lIns="0" tIns="0" rIns="0" bIns="0" rtlCol="0" anchor="t"/>
          <a:lstStyle/>
          <a:p>
            <a:pPr indent="0" marL="0">
              <a:lnSpc>
                <a:spcPts val="1800"/>
              </a:lnSpc>
              <a:buNone/>
            </a:pPr>
            <a:r>
              <a:rPr lang="en-US" sz="1300" dirty="0">
                <a:solidFill>
                  <a:srgbClr val="2C2D2F"/>
                </a:solidFill>
                <a:latin typeface="Open Sans" pitchFamily="34" charset="0"/>
                <a:ea typeface="Open Sans" pitchFamily="34" charset="-122"/>
                <a:cs typeface="Open Sans" pitchFamily="34" charset="-120"/>
              </a:rPr>
              <a:t>the year from which the age-standardised rate has risen every year since</a:t>
            </a:r>
            <a:endParaRPr lang="en-US" sz="1300" dirty="0"/>
          </a:p>
        </p:txBody>
      </p:sp>
      <p:sp>
        <p:nvSpPr>
          <p:cNvPr id="16" name="Text 13"/>
          <p:cNvSpPr/>
          <p:nvPr/>
        </p:nvSpPr>
        <p:spPr>
          <a:xfrm>
            <a:off x="777240" y="5532120"/>
            <a:ext cx="8899855" cy="310896"/>
          </a:xfrm>
          <a:prstGeom prst="rect">
            <a:avLst/>
          </a:prstGeom>
          <a:noFill/>
          <a:ln/>
        </p:spPr>
        <p:txBody>
          <a:bodyPr wrap="square" lIns="0" tIns="0" rIns="0" bIns="0" rtlCol="0" anchor="t"/>
          <a:lstStyle/>
          <a:p>
            <a:pPr indent="0" marL="0">
              <a:buNone/>
            </a:pPr>
            <a:r>
              <a:rPr lang="en-US" sz="1100" i="1" dirty="0">
                <a:solidFill>
                  <a:srgbClr val="63686C"/>
                </a:solidFill>
                <a:latin typeface="Open Sans" pitchFamily="34" charset="0"/>
                <a:ea typeface="Open Sans" pitchFamily="34" charset="-122"/>
                <a:cs typeface="Open Sans" pitchFamily="34" charset="-120"/>
              </a:rPr>
              <a:t>The published series covers England and Wales; Scotland reports separately.</a:t>
            </a:r>
            <a:endParaRPr lang="en-US" sz="1100" dirty="0"/>
          </a:p>
        </p:txBody>
      </p:sp>
      <p:sp>
        <p:nvSpPr>
          <p:cNvPr id="17" name="Text 14"/>
          <p:cNvSpPr/>
          <p:nvPr/>
        </p:nvSpPr>
        <p:spPr>
          <a:xfrm>
            <a:off x="777240" y="4754880"/>
            <a:ext cx="9905695" cy="502920"/>
          </a:xfrm>
          <a:prstGeom prst="rect">
            <a:avLst/>
          </a:prstGeom>
          <a:noFill/>
          <a:ln/>
        </p:spPr>
        <p:txBody>
          <a:bodyPr wrap="square" lIns="0" tIns="0" rIns="0" bIns="0" rtlCol="0" anchor="t"/>
          <a:lstStyle/>
          <a:p>
            <a:pPr indent="0" marL="0">
              <a:lnSpc>
                <a:spcPts val="2100"/>
              </a:lnSpc>
              <a:buNone/>
            </a:pPr>
            <a:r>
              <a:rPr lang="en-US" sz="1450" dirty="0">
                <a:solidFill>
                  <a:srgbClr val="2C2D2F"/>
                </a:solidFill>
                <a:latin typeface="Open Sans" pitchFamily="34" charset="0"/>
                <a:ea typeface="Open Sans" pitchFamily="34" charset="-122"/>
                <a:cs typeface="Open Sans" pitchFamily="34" charset="-120"/>
              </a:rPr>
              <a:t>These are working-age people. On the numbers, in any large workforce there will be people affected, and most will believe it never touches their work.</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02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What counts</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What the policy counts as a substance</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Four groups, and the last two surprise people.</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Shape 5"/>
          <p:cNvSpPr/>
          <p:nvPr/>
        </p:nvSpPr>
        <p:spPr>
          <a:xfrm>
            <a:off x="777240" y="2286000"/>
            <a:ext cx="5135728" cy="1463040"/>
          </a:xfrm>
          <a:prstGeom prst="rect">
            <a:avLst/>
          </a:prstGeom>
          <a:solidFill>
            <a:srgbClr val="FFFFFF"/>
          </a:solidFill>
          <a:ln w="9525">
            <a:solidFill>
              <a:srgbClr val="DCE3E6"/>
            </a:solidFill>
            <a:prstDash val="solid"/>
          </a:ln>
        </p:spPr>
      </p:sp>
      <p:sp>
        <p:nvSpPr>
          <p:cNvPr id="9" name="Text 6"/>
          <p:cNvSpPr/>
          <p:nvPr/>
        </p:nvSpPr>
        <p:spPr>
          <a:xfrm>
            <a:off x="996696" y="2432304"/>
            <a:ext cx="4696816" cy="118872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Alcohol</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 most used substance in the population. It is in scope during working hours and paid breaks, and it can still be affecting somebody the morning after.</a:t>
            </a:r>
            <a:endParaRPr lang="en-US" sz="1350" dirty="0"/>
          </a:p>
        </p:txBody>
      </p:sp>
      <p:sp>
        <p:nvSpPr>
          <p:cNvPr id="10" name="Shape 7"/>
          <p:cNvSpPr/>
          <p:nvPr/>
        </p:nvSpPr>
        <p:spPr>
          <a:xfrm>
            <a:off x="6278728" y="2286000"/>
            <a:ext cx="5135728" cy="1463040"/>
          </a:xfrm>
          <a:prstGeom prst="rect">
            <a:avLst/>
          </a:prstGeom>
          <a:solidFill>
            <a:srgbClr val="FFFFFF"/>
          </a:solidFill>
          <a:ln w="9525">
            <a:solidFill>
              <a:srgbClr val="DCE3E6"/>
            </a:solidFill>
            <a:prstDash val="solid"/>
          </a:ln>
        </p:spPr>
      </p:sp>
      <p:sp>
        <p:nvSpPr>
          <p:cNvPr id="11" name="Text 8"/>
          <p:cNvSpPr/>
          <p:nvPr/>
        </p:nvSpPr>
        <p:spPr>
          <a:xfrm>
            <a:off x="6498184" y="2432304"/>
            <a:ext cx="4696816" cy="118872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Illegal drugs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Cocaine is the substance found most often in workplace samples, with cannabis second. Possession or use on site is a policy matter in every case.</a:t>
            </a:r>
            <a:endParaRPr lang="en-US" sz="1350" dirty="0"/>
          </a:p>
        </p:txBody>
      </p:sp>
      <p:sp>
        <p:nvSpPr>
          <p:cNvPr id="12" name="Shape 9"/>
          <p:cNvSpPr/>
          <p:nvPr/>
        </p:nvSpPr>
        <p:spPr>
          <a:xfrm>
            <a:off x="777240" y="4023360"/>
            <a:ext cx="5135728" cy="1463040"/>
          </a:xfrm>
          <a:prstGeom prst="rect">
            <a:avLst/>
          </a:prstGeom>
          <a:solidFill>
            <a:srgbClr val="F3F5F6"/>
          </a:solidFill>
          <a:ln w="9525">
            <a:solidFill>
              <a:srgbClr val="DCE3E6"/>
            </a:solidFill>
            <a:prstDash val="solid"/>
          </a:ln>
        </p:spPr>
      </p:sp>
      <p:sp>
        <p:nvSpPr>
          <p:cNvPr id="13" name="Text 10"/>
          <p:cNvSpPr/>
          <p:nvPr/>
        </p:nvSpPr>
        <p:spPr>
          <a:xfrm>
            <a:off x="996696" y="4169664"/>
            <a:ext cx="4696816" cy="118872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Prescription and pharmacy medicines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Only when they are misused, or when a medicine that affects alertness has not been declared. Codeine-containing painkillers, sedating antihistamines, sleeping tablets and prescribed sedatives all count.</a:t>
            </a:r>
            <a:endParaRPr lang="en-US" sz="1350" dirty="0"/>
          </a:p>
        </p:txBody>
      </p:sp>
      <p:sp>
        <p:nvSpPr>
          <p:cNvPr id="14" name="Shape 11"/>
          <p:cNvSpPr/>
          <p:nvPr/>
        </p:nvSpPr>
        <p:spPr>
          <a:xfrm>
            <a:off x="6278728" y="4023360"/>
            <a:ext cx="5135728" cy="1463040"/>
          </a:xfrm>
          <a:prstGeom prst="rect">
            <a:avLst/>
          </a:prstGeom>
          <a:solidFill>
            <a:srgbClr val="F3F5F6"/>
          </a:solidFill>
          <a:ln w="9525">
            <a:solidFill>
              <a:srgbClr val="DCE3E6"/>
            </a:solidFill>
            <a:prstDash val="solid"/>
          </a:ln>
        </p:spPr>
      </p:sp>
      <p:sp>
        <p:nvSpPr>
          <p:cNvPr id="15" name="Text 12"/>
          <p:cNvSpPr/>
          <p:nvPr/>
        </p:nvSpPr>
        <p:spPr>
          <a:xfrm>
            <a:off x="6498184" y="4169664"/>
            <a:ext cx="4696816" cy="118872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Psychoactive substances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So-called legal highs and novel substances. The contents are unknown to the person taking them, which makes the effect at work unpredictable.</a:t>
            </a:r>
            <a:endParaRPr lang="en-US" sz="1350" dirty="0"/>
          </a:p>
        </p:txBody>
      </p:sp>
      <p:sp>
        <p:nvSpPr>
          <p:cNvPr id="16" name="Text 13"/>
          <p:cNvSpPr/>
          <p:nvPr/>
        </p:nvSpPr>
        <p:spPr>
          <a:xfrm>
            <a:off x="777240" y="5623560"/>
            <a:ext cx="8899855" cy="365760"/>
          </a:xfrm>
          <a:prstGeom prst="rect">
            <a:avLst/>
          </a:prstGeom>
          <a:noFill/>
          <a:ln/>
        </p:spPr>
        <p:txBody>
          <a:bodyPr wrap="square" lIns="0" tIns="0" rIns="0" bIns="0" rtlCol="0" anchor="t"/>
          <a:lstStyle/>
          <a:p>
            <a:pPr indent="0" marL="0">
              <a:buNone/>
            </a:pPr>
            <a:r>
              <a:rPr lang="en-US" sz="1300" dirty="0">
                <a:solidFill>
                  <a:srgbClr val="2A8BA3"/>
                </a:solidFill>
                <a:latin typeface="Open Sans SemiBold" pitchFamily="34" charset="0"/>
                <a:ea typeface="Open Sans SemiBold" pitchFamily="34" charset="-122"/>
                <a:cs typeface="Open Sans SemiBold" pitchFamily="34" charset="-120"/>
              </a:rPr>
              <a:t>A declared, prescribed medicine handled through medical review is not a policy breach. An undeclared one is a different conversation.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02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Effects at work</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What impairment actually looks like on site</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Plain terms. None of this needs a clinical explanation.</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HSE — managing drug and alcohol misuse at work</a:t>
            </a:r>
            <a:endParaRPr lang="en-US" sz="900" dirty="0"/>
          </a:p>
        </p:txBody>
      </p:sp>
      <p:sp>
        <p:nvSpPr>
          <p:cNvPr id="7" name="Text 5"/>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9" name="Shape 6"/>
          <p:cNvSpPr/>
          <p:nvPr/>
        </p:nvSpPr>
        <p:spPr>
          <a:xfrm>
            <a:off x="777240" y="2286000"/>
            <a:ext cx="5135728" cy="1325880"/>
          </a:xfrm>
          <a:prstGeom prst="rect">
            <a:avLst/>
          </a:prstGeom>
          <a:solidFill>
            <a:srgbClr val="FFFFFF"/>
          </a:solidFill>
          <a:ln w="9525">
            <a:solidFill>
              <a:srgbClr val="DCE3E6"/>
            </a:solidFill>
            <a:prstDash val="solid"/>
          </a:ln>
        </p:spPr>
      </p:sp>
      <p:sp>
        <p:nvSpPr>
          <p:cNvPr id="10" name="Text 7"/>
          <p:cNvSpPr/>
          <p:nvPr/>
        </p:nvSpPr>
        <p:spPr>
          <a:xfrm>
            <a:off x="996696" y="2432304"/>
            <a:ext cx="4696816" cy="10515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Judgement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Risks look smaller than they are. Shortcuts start to feel reasonable, and the decision to stop feels unnecessary.</a:t>
            </a:r>
            <a:endParaRPr lang="en-US" sz="1350" dirty="0"/>
          </a:p>
        </p:txBody>
      </p:sp>
      <p:sp>
        <p:nvSpPr>
          <p:cNvPr id="11" name="Shape 8"/>
          <p:cNvSpPr/>
          <p:nvPr/>
        </p:nvSpPr>
        <p:spPr>
          <a:xfrm>
            <a:off x="6278728" y="2286000"/>
            <a:ext cx="5135728" cy="1325880"/>
          </a:xfrm>
          <a:prstGeom prst="rect">
            <a:avLst/>
          </a:prstGeom>
          <a:solidFill>
            <a:srgbClr val="FFFFFF"/>
          </a:solidFill>
          <a:ln w="9525">
            <a:solidFill>
              <a:srgbClr val="DCE3E6"/>
            </a:solidFill>
            <a:prstDash val="solid"/>
          </a:ln>
        </p:spPr>
      </p:sp>
      <p:sp>
        <p:nvSpPr>
          <p:cNvPr id="12" name="Text 9"/>
          <p:cNvSpPr/>
          <p:nvPr/>
        </p:nvSpPr>
        <p:spPr>
          <a:xfrm>
            <a:off x="6498184" y="2432304"/>
            <a:ext cx="4696816" cy="10515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Reaction time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 gap between seeing something and doing something about it stretches. Around moving plant, that gap is the whole margin of safety.</a:t>
            </a:r>
            <a:endParaRPr lang="en-US" sz="1350" dirty="0"/>
          </a:p>
        </p:txBody>
      </p:sp>
      <p:sp>
        <p:nvSpPr>
          <p:cNvPr id="13" name="Shape 10"/>
          <p:cNvSpPr/>
          <p:nvPr/>
        </p:nvSpPr>
        <p:spPr>
          <a:xfrm>
            <a:off x="777240" y="3886200"/>
            <a:ext cx="5135728" cy="1325880"/>
          </a:xfrm>
          <a:prstGeom prst="rect">
            <a:avLst/>
          </a:prstGeom>
          <a:solidFill>
            <a:srgbClr val="F3F5F6"/>
          </a:solidFill>
          <a:ln w="9525">
            <a:solidFill>
              <a:srgbClr val="DCE3E6"/>
            </a:solidFill>
            <a:prstDash val="solid"/>
          </a:ln>
        </p:spPr>
      </p:sp>
      <p:sp>
        <p:nvSpPr>
          <p:cNvPr id="14" name="Text 11"/>
          <p:cNvSpPr/>
          <p:nvPr/>
        </p:nvSpPr>
        <p:spPr>
          <a:xfrm>
            <a:off x="996696" y="4032504"/>
            <a:ext cx="4696816" cy="10515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Coordination and balance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Grip, footing and fine control slip. Working at height, on ladders or with tools, that shows up quickly.</a:t>
            </a:r>
            <a:endParaRPr lang="en-US" sz="1350" dirty="0"/>
          </a:p>
        </p:txBody>
      </p:sp>
      <p:sp>
        <p:nvSpPr>
          <p:cNvPr id="15" name="Shape 12"/>
          <p:cNvSpPr/>
          <p:nvPr/>
        </p:nvSpPr>
        <p:spPr>
          <a:xfrm>
            <a:off x="6278728" y="3886200"/>
            <a:ext cx="5135728" cy="1325880"/>
          </a:xfrm>
          <a:prstGeom prst="rect">
            <a:avLst/>
          </a:prstGeom>
          <a:solidFill>
            <a:srgbClr val="F3F5F6"/>
          </a:solidFill>
          <a:ln w="9525">
            <a:solidFill>
              <a:srgbClr val="DCE3E6"/>
            </a:solidFill>
            <a:prstDash val="solid"/>
          </a:ln>
        </p:spPr>
      </p:sp>
      <p:sp>
        <p:nvSpPr>
          <p:cNvPr id="16" name="Text 13"/>
          <p:cNvSpPr/>
          <p:nvPr/>
        </p:nvSpPr>
        <p:spPr>
          <a:xfrm>
            <a:off x="6498184" y="4032504"/>
            <a:ext cx="4696816" cy="10515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Fatigue and attention</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Concentration drifts, and tiredness after use can last well beyond the effect itself. Repetitive tasks are where it bites.</a:t>
            </a:r>
            <a:endParaRPr lang="en-US" sz="1350" dirty="0"/>
          </a:p>
        </p:txBody>
      </p:sp>
      <p:sp>
        <p:nvSpPr>
          <p:cNvPr id="17" name="Text 14"/>
          <p:cNvSpPr/>
          <p:nvPr/>
        </p:nvSpPr>
        <p:spPr>
          <a:xfrm>
            <a:off x="777240" y="5349240"/>
            <a:ext cx="10088575" cy="365760"/>
          </a:xfrm>
          <a:prstGeom prst="rect">
            <a:avLst/>
          </a:prstGeom>
          <a:noFill/>
          <a:ln/>
        </p:spPr>
        <p:txBody>
          <a:bodyPr wrap="square" lIns="0" tIns="0" rIns="0" bIns="0" rtlCol="0" anchor="t"/>
          <a:lstStyle/>
          <a:p>
            <a:pPr indent="0" marL="0">
              <a:buNone/>
            </a:pPr>
            <a:r>
              <a:rPr lang="en-US" sz="1350" i="1" dirty="0">
                <a:solidFill>
                  <a:srgbClr val="2C2D2F"/>
                </a:solidFill>
                <a:latin typeface="Open Sans" pitchFamily="34" charset="0"/>
                <a:ea typeface="Open Sans" pitchFamily="34" charset="-122"/>
                <a:cs typeface="Open Sans" pitchFamily="34" charset="-120"/>
              </a:rPr>
              <a:t>The person affected is usually the last one to notice — the standard is fitness for work, not self-assessment.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03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Our policy</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Our policy, and the rules here</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The standard is fitness for work, and it applies to everybody on site.</a:t>
            </a:r>
            <a:endParaRPr lang="en-US" sz="1500" dirty="0"/>
          </a:p>
        </p:txBody>
      </p:sp>
      <p:sp>
        <p:nvSpPr>
          <p:cNvPr id="6" name="Text 4"/>
          <p:cNvSpPr/>
          <p:nvPr/>
        </p:nvSpPr>
        <p:spPr>
          <a:xfrm>
            <a:off x="777240" y="5907024"/>
            <a:ext cx="8899855" cy="310896"/>
          </a:xfrm>
          <a:prstGeom prst="rect">
            <a:avLst/>
          </a:prstGeom>
          <a:noFill/>
          <a:ln/>
        </p:spPr>
        <p:txBody>
          <a:bodyPr wrap="square" lIns="0" tIns="0" rIns="0" bIns="0" rtlCol="0" anchor="ctr"/>
          <a:lstStyle/>
          <a:p>
            <a:pPr indent="0" marL="0">
              <a:buNone/>
            </a:pPr>
            <a:r>
              <a:rPr lang="en-US" sz="1000" i="1" dirty="0">
                <a:solidFill>
                  <a:srgbClr val="63686C"/>
                </a:solidFill>
                <a:latin typeface="Open Sans" pitchFamily="34" charset="0"/>
                <a:ea typeface="Open Sans" pitchFamily="34" charset="-122"/>
                <a:cs typeface="Open Sans" pitchFamily="34" charset="-120"/>
              </a:rPr>
              <a:t>Testing types, the support stance and the policy location are filled from the policy answers.</a:t>
            </a:r>
            <a:endParaRPr lang="en-US" sz="1000" dirty="0"/>
          </a:p>
        </p:txBody>
      </p:sp>
      <p:sp>
        <p:nvSpPr>
          <p:cNvPr id="7" name="Text 5"/>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9" name="Text 6"/>
          <p:cNvSpPr/>
          <p:nvPr/>
        </p:nvSpPr>
        <p:spPr>
          <a:xfrm>
            <a:off x="777240" y="2194560"/>
            <a:ext cx="10225735" cy="2560320"/>
          </a:xfrm>
          <a:prstGeom prst="rect">
            <a:avLst/>
          </a:prstGeom>
          <a:noFill/>
          <a:ln/>
        </p:spPr>
        <p:txBody>
          <a:bodyPr wrap="square" lIns="0" tIns="0" rIns="0" bIns="0" rtlCol="0" anchor="t"/>
          <a:lstStyle/>
          <a:p>
            <a:pPr marL="228600" indent="-228600">
              <a:lnSpc>
                <a:spcPts val="2500"/>
              </a:lnSpc>
              <a:spcAft>
                <a:spcPts val="800"/>
              </a:spcAft>
              <a:buSzPct val="100000"/>
              <a:buChar char="•"/>
            </a:pPr>
            <a:r>
              <a:rPr lang="en-US" sz="1550" dirty="0">
                <a:solidFill>
                  <a:srgbClr val="2C2D2F"/>
                </a:solidFill>
                <a:latin typeface="Open Sans" pitchFamily="34" charset="0"/>
                <a:ea typeface="Open Sans" pitchFamily="34" charset="-122"/>
                <a:cs typeface="Open Sans" pitchFamily="34" charset="-120"/>
              </a:rPr>
              <a:t>The standard is fitness for work: if alcohol, drugs or any substance could be affecting you, you do not start</a:t>
            </a:r>
            <a:endParaRPr lang="en-US" sz="1550" dirty="0"/>
          </a:p>
          <a:p>
            <a:pPr marL="228600" indent="-228600">
              <a:lnSpc>
                <a:spcPts val="2500"/>
              </a:lnSpc>
              <a:spcAft>
                <a:spcPts val="800"/>
              </a:spcAft>
              <a:buSzPct val="100000"/>
              <a:buChar char="•"/>
            </a:pPr>
            <a:r>
              <a:rPr lang="en-US" sz="1550" dirty="0">
                <a:solidFill>
                  <a:srgbClr val="2C2D2F"/>
                </a:solidFill>
                <a:latin typeface="Open Sans" pitchFamily="34" charset="0"/>
                <a:ea typeface="Open Sans" pitchFamily="34" charset="-122"/>
                <a:cs typeface="Open Sans" pitchFamily="34" charset="-120"/>
              </a:rPr>
              <a:t>Working hours and paid breaks are both covered, and it applies to everyone on site including contractors and visitors</a:t>
            </a:r>
            <a:endParaRPr lang="en-US" sz="1550" dirty="0"/>
          </a:p>
          <a:p>
            <a:pPr marL="228600" indent="-228600">
              <a:lnSpc>
                <a:spcPts val="2500"/>
              </a:lnSpc>
              <a:spcAft>
                <a:spcPts val="800"/>
              </a:spcAft>
              <a:buSzPct val="100000"/>
              <a:buChar char="•"/>
            </a:pPr>
            <a:r>
              <a:rPr lang="en-US" sz="1550" dirty="0">
                <a:solidFill>
                  <a:srgbClr val="2C2D2F"/>
                </a:solidFill>
                <a:latin typeface="Open Sans" pitchFamily="34" charset="0"/>
                <a:ea typeface="Open Sans" pitchFamily="34" charset="-122"/>
                <a:cs typeface="Open Sans" pitchFamily="34" charset="-120"/>
              </a:rPr>
              <a:t>Testing that applies here: ⟨Testing types in your policy⟩</a:t>
            </a:r>
            <a:endParaRPr lang="en-US" sz="1550" dirty="0"/>
          </a:p>
          <a:p>
            <a:pPr marL="228600" indent="-228600">
              <a:lnSpc>
                <a:spcPts val="2500"/>
              </a:lnSpc>
              <a:spcAft>
                <a:spcPts val="800"/>
              </a:spcAft>
              <a:buSzPct val="100000"/>
              <a:buChar char="•"/>
            </a:pPr>
            <a:r>
              <a:rPr lang="en-US" sz="1550" dirty="0">
                <a:solidFill>
                  <a:srgbClr val="2C2D2F"/>
                </a:solidFill>
                <a:latin typeface="Open Sans" pitchFamily="34" charset="0"/>
                <a:ea typeface="Open Sans" pitchFamily="34" charset="-122"/>
                <a:cs typeface="Open Sans" pitchFamily="34" charset="-120"/>
              </a:rPr>
              <a:t>Breaches are treated seriously, and the policy sets out what follows a non-negative screen</a:t>
            </a:r>
            <a:endParaRPr lang="en-US" sz="1550" dirty="0"/>
          </a:p>
          <a:p>
            <a:pPr marL="228600" indent="-228600">
              <a:lnSpc>
                <a:spcPts val="2500"/>
              </a:lnSpc>
              <a:spcAft>
                <a:spcPts val="800"/>
              </a:spcAft>
              <a:buSzPct val="100000"/>
              <a:buChar char="•"/>
            </a:pPr>
            <a:r>
              <a:rPr lang="en-US" sz="1550" dirty="0">
                <a:solidFill>
                  <a:srgbClr val="2C2D2F"/>
                </a:solidFill>
                <a:latin typeface="Open Sans" pitchFamily="34" charset="0"/>
                <a:ea typeface="Open Sans" pitchFamily="34" charset="-122"/>
                <a:cs typeface="Open Sans" pitchFamily="34" charset="-120"/>
              </a:rPr>
              <a:t>The policy owner is ⟨Policy owner⟩ and the full document is available at ⟨Where the policy is published⟩</a:t>
            </a:r>
            <a:endParaRPr lang="en-US" sz="1550" dirty="0"/>
          </a:p>
        </p:txBody>
      </p:sp>
      <p:sp>
        <p:nvSpPr>
          <p:cNvPr id="10" name="Shape 7"/>
          <p:cNvSpPr/>
          <p:nvPr/>
        </p:nvSpPr>
        <p:spPr>
          <a:xfrm>
            <a:off x="777240" y="4892040"/>
            <a:ext cx="10637215" cy="841248"/>
          </a:xfrm>
          <a:prstGeom prst="rect">
            <a:avLst/>
          </a:prstGeom>
          <a:solidFill>
            <a:srgbClr val="EAF4F7"/>
          </a:solidFill>
          <a:ln w="9525">
            <a:solidFill>
              <a:srgbClr val="DCE3E6"/>
            </a:solidFill>
            <a:prstDash val="solid"/>
          </a:ln>
        </p:spPr>
      </p:sp>
      <p:sp>
        <p:nvSpPr>
          <p:cNvPr id="11" name="Text 8"/>
          <p:cNvSpPr/>
          <p:nvPr/>
        </p:nvSpPr>
        <p:spPr>
          <a:xfrm>
            <a:off x="1051560" y="5120640"/>
            <a:ext cx="10088575" cy="411480"/>
          </a:xfrm>
          <a:prstGeom prst="rect">
            <a:avLst/>
          </a:prstGeom>
          <a:noFill/>
          <a:ln/>
        </p:spPr>
        <p:txBody>
          <a:bodyPr wrap="square" lIns="0" tIns="0" rIns="0" bIns="0" rtlCol="0" anchor="t"/>
          <a:lstStyle/>
          <a:p>
            <a:pPr indent="0" marL="0">
              <a:buNone/>
            </a:pPr>
            <a:r>
              <a:rPr lang="en-US" sz="1500" dirty="0">
                <a:solidFill>
                  <a:srgbClr val="2A8BA3"/>
                </a:solidFill>
                <a:latin typeface="Open Sans SemiBold" pitchFamily="34" charset="0"/>
                <a:ea typeface="Open Sans SemiBold" pitchFamily="34" charset="-122"/>
                <a:cs typeface="Open Sans SemiBold" pitchFamily="34" charset="-120"/>
              </a:rPr>
              <a:t>Read the policy once today, rather than for the first time on a bad day.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04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How testing works</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How a test actually works</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A short film of an oral fluid collection, start to finish, then the paper trail behind it.</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Shape 5"/>
          <p:cNvSpPr/>
          <p:nvPr/>
        </p:nvSpPr>
        <p:spPr>
          <a:xfrm>
            <a:off x="777240" y="2286000"/>
            <a:ext cx="6492240" cy="2240280"/>
          </a:xfrm>
          <a:prstGeom prst="rect">
            <a:avLst/>
          </a:prstGeom>
          <a:solidFill>
            <a:srgbClr val="FFFFFF"/>
          </a:solidFill>
          <a:ln w="9525">
            <a:solidFill>
              <a:srgbClr val="DCE3E6"/>
            </a:solidFill>
            <a:prstDash val="solid"/>
          </a:ln>
        </p:spPr>
      </p:sp>
      <p:sp>
        <p:nvSpPr>
          <p:cNvPr id="9" name="Text 6"/>
          <p:cNvSpPr/>
          <p:nvPr/>
        </p:nvSpPr>
        <p:spPr>
          <a:xfrm>
            <a:off x="1097280" y="2560320"/>
            <a:ext cx="5852160" cy="411480"/>
          </a:xfrm>
          <a:prstGeom prst="rect">
            <a:avLst/>
          </a:prstGeom>
          <a:noFill/>
          <a:ln/>
        </p:spPr>
        <p:txBody>
          <a:bodyPr wrap="square" lIns="0" tIns="0" rIns="0" bIns="0" rtlCol="0" anchor="t"/>
          <a:lstStyle/>
          <a:p>
            <a:pPr indent="0" marL="0">
              <a:buNone/>
            </a:pPr>
            <a:r>
              <a:rPr lang="en-US" sz="1800" dirty="0">
                <a:solidFill>
                  <a:srgbClr val="2C2D2F"/>
                </a:solidFill>
                <a:latin typeface="Open Sans" pitchFamily="34" charset="0"/>
                <a:ea typeface="Open Sans" pitchFamily="34" charset="-122"/>
                <a:cs typeface="Open Sans" pitchFamily="34" charset="-120"/>
              </a:rPr>
              <a:t>Oral fluid collection — procedure film</a:t>
            </a:r>
            <a:endParaRPr lang="en-US" sz="1800" dirty="0"/>
          </a:p>
        </p:txBody>
      </p:sp>
      <p:sp>
        <p:nvSpPr>
          <p:cNvPr id="10" name="Text 7"/>
          <p:cNvSpPr/>
          <p:nvPr/>
        </p:nvSpPr>
        <p:spPr>
          <a:xfrm>
            <a:off x="1097280" y="3063240"/>
            <a:ext cx="5852160" cy="365760"/>
          </a:xfrm>
          <a:prstGeom prst="rect">
            <a:avLst/>
          </a:prstGeom>
          <a:noFill/>
          <a:ln/>
        </p:spPr>
        <p:txBody>
          <a:bodyPr wrap="square" lIns="0" tIns="0" rIns="0" bIns="0" rtlCol="0" anchor="t"/>
          <a:lstStyle/>
          <a:p>
            <a:pPr indent="0" marL="0">
              <a:buNone/>
            </a:pPr>
            <a:r>
              <a:rPr lang="en-US" sz="1400" dirty="0">
                <a:solidFill>
                  <a:srgbClr val="2C2D2F"/>
                </a:solidFill>
                <a:latin typeface="Open Sans" pitchFamily="34" charset="0"/>
                <a:ea typeface="Open Sans" pitchFamily="34" charset="-122"/>
                <a:cs typeface="Open Sans" pitchFamily="34" charset="-120"/>
              </a:rPr>
              <a:t>Open the film: </a:t>
            </a:r>
            <a:pPr indent="0" marL="0">
              <a:buNone/>
            </a:pPr>
            <a:r>
              <a:rPr lang="en-US" sz="1400" u="sng" dirty="0">
                <a:solidFill>
                  <a:srgbClr val="2A8BA3"/>
                </a:solidFill>
                <a:latin typeface="Open Sans SemiBold" pitchFamily="34" charset="0"/>
                <a:ea typeface="Open Sans SemiBold" pitchFamily="34" charset="-122"/>
                <a:cs typeface="Open Sans SemiBold"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youtu.be/_2tAEqwoOmI</a:t>
            </a:r>
            <a:endParaRPr lang="en-US" sz="1400" dirty="0"/>
          </a:p>
        </p:txBody>
      </p:sp>
      <p:sp>
        <p:nvSpPr>
          <p:cNvPr id="11" name="Text 8"/>
          <p:cNvSpPr/>
          <p:nvPr/>
        </p:nvSpPr>
        <p:spPr>
          <a:xfrm>
            <a:off x="1097280" y="3474720"/>
            <a:ext cx="5852160" cy="822960"/>
          </a:xfrm>
          <a:prstGeom prst="rect">
            <a:avLst/>
          </a:prstGeom>
          <a:noFill/>
          <a:ln/>
        </p:spPr>
        <p:txBody>
          <a:bodyPr wrap="square" lIns="0" tIns="0" rIns="0" bIns="0" rtlCol="0" anchor="t"/>
          <a:lstStyle/>
          <a:p>
            <a:pPr indent="0" marL="0">
              <a:lnSpc>
                <a:spcPts val="1800"/>
              </a:lnSpc>
              <a:buNone/>
            </a:pPr>
            <a:r>
              <a:rPr lang="en-US" sz="1250" dirty="0">
                <a:solidFill>
                  <a:srgbClr val="63686C"/>
                </a:solidFill>
                <a:latin typeface="Open Sans" pitchFamily="34" charset="0"/>
                <a:ea typeface="Open Sans" pitchFamily="34" charset="-122"/>
                <a:cs typeface="Open Sans" pitchFamily="34" charset="-120"/>
              </a:rPr>
              <a:t>Watch for four moments: the sealed kit opened in front of the donor, how the swab is handled, the tamper-evident seal going on, and the paperwork being signed.</a:t>
            </a:r>
            <a:endParaRPr lang="en-US" sz="1250" dirty="0"/>
          </a:p>
        </p:txBody>
      </p:sp>
      <p:sp>
        <p:nvSpPr>
          <p:cNvPr id="12" name="Text 9"/>
          <p:cNvSpPr/>
          <p:nvPr/>
        </p:nvSpPr>
        <p:spPr>
          <a:xfrm>
            <a:off x="7818120" y="2286000"/>
            <a:ext cx="3566160" cy="457200"/>
          </a:xfrm>
          <a:prstGeom prst="rect">
            <a:avLst/>
          </a:prstGeom>
          <a:noFill/>
          <a:ln/>
        </p:spPr>
        <p:txBody>
          <a:bodyPr wrap="square" lIns="0" tIns="0" rIns="0" bIns="0" rtlCol="0" anchor="t"/>
          <a:lstStyle/>
          <a:p>
            <a:pPr indent="0" marL="0">
              <a:lnSpc>
                <a:spcPts val="2100"/>
              </a:lnSpc>
              <a:buNone/>
            </a:pPr>
            <a:r>
              <a:rPr lang="en-US" sz="1500" dirty="0">
                <a:solidFill>
                  <a:srgbClr val="2C2D2F"/>
                </a:solidFill>
                <a:latin typeface="Open Sans SemiBold" pitchFamily="34" charset="0"/>
                <a:ea typeface="Open Sans SemiBold" pitchFamily="34" charset="-122"/>
                <a:cs typeface="Open Sans SemiBold" pitchFamily="34" charset="-120"/>
              </a:rPr>
              <a:t>Chain of custody — the paper trail that protects you</a:t>
            </a:r>
            <a:endParaRPr lang="en-US" sz="1500" dirty="0"/>
          </a:p>
        </p:txBody>
      </p:sp>
      <p:sp>
        <p:nvSpPr>
          <p:cNvPr id="13" name="Text 10"/>
          <p:cNvSpPr/>
          <p:nvPr/>
        </p:nvSpPr>
        <p:spPr>
          <a:xfrm>
            <a:off x="7818120" y="2834640"/>
            <a:ext cx="3566160" cy="1828800"/>
          </a:xfrm>
          <a:prstGeom prst="rect">
            <a:avLst/>
          </a:prstGeom>
          <a:noFill/>
          <a:ln/>
        </p:spPr>
        <p:txBody>
          <a:bodyPr wrap="square" lIns="0" tIns="0" rIns="0" bIns="0" rtlCol="0" anchor="t"/>
          <a:lstStyle/>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A sealed kit is opened in front of you and the sample is sealed while you watch</a:t>
            </a:r>
            <a:endParaRPr lang="en-US" sz="1250" dirty="0"/>
          </a:p>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You check the details, sign the chain of custody form and keep a copy</a:t>
            </a:r>
            <a:endParaRPr lang="en-US" sz="1250" dirty="0"/>
          </a:p>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Every handover is logged; if any link in the chain is broken, the result is not defensible</a:t>
            </a:r>
            <a:endParaRPr lang="en-US" sz="1250" dirty="0"/>
          </a:p>
        </p:txBody>
      </p:sp>
      <p:sp>
        <p:nvSpPr>
          <p:cNvPr id="14" name="Text 11"/>
          <p:cNvSpPr/>
          <p:nvPr/>
        </p:nvSpPr>
        <p:spPr>
          <a:xfrm>
            <a:off x="777240" y="4709160"/>
            <a:ext cx="6492240" cy="320040"/>
          </a:xfrm>
          <a:prstGeom prst="rect">
            <a:avLst/>
          </a:prstGeom>
          <a:noFill/>
          <a:ln/>
        </p:spPr>
        <p:txBody>
          <a:bodyPr wrap="square" lIns="0" tIns="0" rIns="0" bIns="0" rtlCol="0" anchor="t"/>
          <a:lstStyle/>
          <a:p>
            <a:pPr indent="0" marL="0">
              <a:buNone/>
            </a:pPr>
            <a:r>
              <a:rPr lang="en-US" sz="1150" i="1" dirty="0">
                <a:solidFill>
                  <a:srgbClr val="63686C"/>
                </a:solidFill>
                <a:latin typeface="Open Sans" pitchFamily="34" charset="0"/>
                <a:ea typeface="Open Sans" pitchFamily="34" charset="-122"/>
                <a:cs typeface="Open Sans" pitchFamily="34" charset="-120"/>
              </a:rPr>
              <a:t>Nobody appearing in the film is an employee of any client organisation.</a:t>
            </a:r>
            <a:endParaRPr lang="en-US" sz="1150" dirty="0"/>
          </a:p>
        </p:txBody>
      </p:sp>
      <p:sp>
        <p:nvSpPr>
          <p:cNvPr id="15" name="Shape 12"/>
          <p:cNvSpPr/>
          <p:nvPr/>
        </p:nvSpPr>
        <p:spPr>
          <a:xfrm>
            <a:off x="777240" y="5120640"/>
            <a:ext cx="10637215" cy="658368"/>
          </a:xfrm>
          <a:prstGeom prst="rect">
            <a:avLst/>
          </a:prstGeom>
          <a:solidFill>
            <a:srgbClr val="EAF4F7"/>
          </a:solidFill>
          <a:ln w="9525">
            <a:solidFill>
              <a:srgbClr val="DCE3E6"/>
            </a:solidFill>
            <a:prstDash val="solid"/>
          </a:ln>
        </p:spPr>
      </p:sp>
      <p:sp>
        <p:nvSpPr>
          <p:cNvPr id="16" name="Text 13"/>
          <p:cNvSpPr/>
          <p:nvPr/>
        </p:nvSpPr>
        <p:spPr>
          <a:xfrm>
            <a:off x="1051560" y="5285232"/>
            <a:ext cx="10088575" cy="365760"/>
          </a:xfrm>
          <a:prstGeom prst="rect">
            <a:avLst/>
          </a:prstGeom>
          <a:noFill/>
          <a:ln/>
        </p:spPr>
        <p:txBody>
          <a:bodyPr wrap="square" lIns="0" tIns="0" rIns="0" bIns="0" rtlCol="0" anchor="t"/>
          <a:lstStyle/>
          <a:p>
            <a:pPr indent="0" marL="0">
              <a:buNone/>
            </a:pPr>
            <a:r>
              <a:rPr lang="en-US" sz="1450" dirty="0">
                <a:solidFill>
                  <a:srgbClr val="2A8BA3"/>
                </a:solidFill>
                <a:latin typeface="Open Sans SemiBold" pitchFamily="34" charset="0"/>
                <a:ea typeface="Open Sans SemiBold" pitchFamily="34" charset="-122"/>
                <a:cs typeface="Open Sans SemiBold" pitchFamily="34" charset="-120"/>
              </a:rPr>
              <a:t>A negative screen ends the matter and you go back to work.</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04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Screening and confirmation</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Screening and confirmation are different things</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A screen indicates. Only the laboratory confirms.</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Shape 5"/>
          <p:cNvSpPr/>
          <p:nvPr/>
        </p:nvSpPr>
        <p:spPr>
          <a:xfrm>
            <a:off x="777240" y="2286000"/>
            <a:ext cx="5135728" cy="1554480"/>
          </a:xfrm>
          <a:prstGeom prst="rect">
            <a:avLst/>
          </a:prstGeom>
          <a:solidFill>
            <a:srgbClr val="FFFFFF"/>
          </a:solidFill>
          <a:ln w="9525">
            <a:solidFill>
              <a:srgbClr val="DCE3E6"/>
            </a:solidFill>
            <a:prstDash val="solid"/>
          </a:ln>
        </p:spPr>
      </p:sp>
      <p:sp>
        <p:nvSpPr>
          <p:cNvPr id="9" name="Text 6"/>
          <p:cNvSpPr/>
          <p:nvPr/>
        </p:nvSpPr>
        <p:spPr>
          <a:xfrm>
            <a:off x="996696" y="2432304"/>
            <a:ext cx="4696816" cy="12801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Screening, on site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A point-of-care device gives an indication. It is not evidential, it is not presented as final, and it is never described as a failed test. The word used is “non-negative”.</a:t>
            </a:r>
            <a:endParaRPr lang="en-US" sz="1350" dirty="0"/>
          </a:p>
        </p:txBody>
      </p:sp>
      <p:sp>
        <p:nvSpPr>
          <p:cNvPr id="10" name="Shape 7"/>
          <p:cNvSpPr/>
          <p:nvPr/>
        </p:nvSpPr>
        <p:spPr>
          <a:xfrm>
            <a:off x="6278728" y="2286000"/>
            <a:ext cx="5135728" cy="1554480"/>
          </a:xfrm>
          <a:prstGeom prst="rect">
            <a:avLst/>
          </a:prstGeom>
          <a:solidFill>
            <a:srgbClr val="FFFFFF"/>
          </a:solidFill>
          <a:ln w="9525">
            <a:solidFill>
              <a:srgbClr val="DCE3E6"/>
            </a:solidFill>
            <a:prstDash val="solid"/>
          </a:ln>
        </p:spPr>
      </p:sp>
      <p:sp>
        <p:nvSpPr>
          <p:cNvPr id="11" name="Text 8"/>
          <p:cNvSpPr/>
          <p:nvPr/>
        </p:nvSpPr>
        <p:spPr>
          <a:xfrm>
            <a:off x="6498184" y="2432304"/>
            <a:ext cx="4696816" cy="128016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Confirmation, in the laboratory</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Further samples, different analytical methods, assessed against the current published cut-off schedule of the analysing laboratory. This is the evidential step, and it produces a certificate.</a:t>
            </a:r>
            <a:endParaRPr lang="en-US" sz="1350" dirty="0"/>
          </a:p>
        </p:txBody>
      </p:sp>
      <p:sp>
        <p:nvSpPr>
          <p:cNvPr id="12" name="Text 9"/>
          <p:cNvSpPr/>
          <p:nvPr/>
        </p:nvSpPr>
        <p:spPr>
          <a:xfrm>
            <a:off x="777240" y="4069080"/>
            <a:ext cx="9174175" cy="731520"/>
          </a:xfrm>
          <a:prstGeom prst="rect">
            <a:avLst/>
          </a:prstGeom>
          <a:noFill/>
          <a:ln/>
        </p:spPr>
        <p:txBody>
          <a:bodyPr wrap="square" lIns="0" tIns="0" rIns="0" bIns="0" rtlCol="0" anchor="t"/>
          <a:lstStyle/>
          <a:p>
            <a:pPr indent="0" marL="0">
              <a:lnSpc>
                <a:spcPts val="3000"/>
              </a:lnSpc>
              <a:buNone/>
            </a:pPr>
            <a:r>
              <a:rPr lang="en-US" sz="2200" dirty="0">
                <a:solidFill>
                  <a:srgbClr val="2A8BA3"/>
                </a:solidFill>
                <a:latin typeface="Open Sans SemiBold" pitchFamily="34" charset="0"/>
                <a:ea typeface="Open Sans SemiBold" pitchFamily="34" charset="-122"/>
                <a:cs typeface="Open Sans SemiBold" pitchFamily="34" charset="-120"/>
              </a:rPr>
              <a:t>A non-negative screen is not a failed test. It is the point at which the sample goes to a laboratory.</a:t>
            </a:r>
            <a:endParaRPr lang="en-US" sz="2200" dirty="0"/>
          </a:p>
        </p:txBody>
      </p:sp>
      <p:sp>
        <p:nvSpPr>
          <p:cNvPr id="13" name="Text 10"/>
          <p:cNvSpPr/>
          <p:nvPr/>
        </p:nvSpPr>
        <p:spPr>
          <a:xfrm>
            <a:off x="777240" y="4937760"/>
            <a:ext cx="10225735" cy="914400"/>
          </a:xfrm>
          <a:prstGeom prst="rect">
            <a:avLst/>
          </a:prstGeom>
          <a:noFill/>
          <a:ln/>
        </p:spPr>
        <p:txBody>
          <a:bodyPr wrap="square" lIns="0" tIns="0" rIns="0" bIns="0" rtlCol="0" anchor="t"/>
          <a:lstStyle/>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You are stood down from safety-critical work while the process runs — a precaution, not a finding</a:t>
            </a:r>
            <a:endParaRPr lang="en-US" sz="1250" dirty="0"/>
          </a:p>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A further sample is retained so that independent re-analysis can be requested</a:t>
            </a:r>
            <a:endParaRPr lang="en-US" sz="1250" dirty="0"/>
          </a:p>
          <a:p>
            <a:pPr marL="228600" indent="-228600">
              <a:lnSpc>
                <a:spcPts val="1900"/>
              </a:lnSpc>
              <a:spcAft>
                <a:spcPts val="800"/>
              </a:spcAft>
              <a:buSzPct val="100000"/>
              <a:buChar char="•"/>
            </a:pPr>
            <a:r>
              <a:rPr lang="en-US" sz="1250" dirty="0">
                <a:solidFill>
                  <a:srgbClr val="2C2D2F"/>
                </a:solidFill>
                <a:latin typeface="Open Sans" pitchFamily="34" charset="0"/>
                <a:ea typeface="Open Sans" pitchFamily="34" charset="-122"/>
                <a:cs typeface="Open Sans" pitchFamily="34" charset="-120"/>
              </a:rPr>
              <a:t>Confirmation is carried out by an accredited laboratory, and only that step produces a certificate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05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Medication</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Medication: declare it, and read the label</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Declared in advance, a prescribed medicine is not a policy breach.</a:t>
            </a:r>
            <a:endParaRPr lang="en-US" sz="1500" dirty="0"/>
          </a:p>
        </p:txBody>
      </p:sp>
      <p:sp>
        <p:nvSpPr>
          <p:cNvPr id="6" name="Text 4"/>
          <p:cNvSpPr/>
          <p:nvPr/>
        </p:nvSpPr>
        <p:spPr>
          <a:xfrm>
            <a:off x="777240" y="5907024"/>
            <a:ext cx="8899855" cy="310896"/>
          </a:xfrm>
          <a:prstGeom prst="rect">
            <a:avLst/>
          </a:prstGeom>
          <a:noFill/>
          <a:ln/>
        </p:spPr>
        <p:txBody>
          <a:bodyPr wrap="square" lIns="0" tIns="0" rIns="0" bIns="0" rtlCol="0" anchor="ctr"/>
          <a:lstStyle/>
          <a:p>
            <a:pPr indent="0" marL="0">
              <a:buNone/>
            </a:pPr>
            <a:r>
              <a:rPr lang="en-US" sz="1000" i="1" dirty="0">
                <a:solidFill>
                  <a:srgbClr val="63686C"/>
                </a:solidFill>
                <a:latin typeface="Open Sans" pitchFamily="34" charset="0"/>
                <a:ea typeface="Open Sans" pitchFamily="34" charset="-122"/>
                <a:cs typeface="Open Sans" pitchFamily="34" charset="-120"/>
              </a:rPr>
              <a:t>The confidential declaration route is filled from the policy answers.</a:t>
            </a:r>
            <a:endParaRPr lang="en-US" sz="1000" dirty="0"/>
          </a:p>
        </p:txBody>
      </p:sp>
      <p:sp>
        <p:nvSpPr>
          <p:cNvPr id="7" name="Text 5"/>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9" name="Shape 6"/>
          <p:cNvSpPr/>
          <p:nvPr/>
        </p:nvSpPr>
        <p:spPr>
          <a:xfrm>
            <a:off x="777240" y="2267712"/>
            <a:ext cx="5135728" cy="1371600"/>
          </a:xfrm>
          <a:prstGeom prst="rect">
            <a:avLst/>
          </a:prstGeom>
          <a:solidFill>
            <a:srgbClr val="FFFFFF"/>
          </a:solidFill>
          <a:ln w="9525">
            <a:solidFill>
              <a:srgbClr val="DCE3E6"/>
            </a:solidFill>
            <a:prstDash val="solid"/>
          </a:ln>
        </p:spPr>
      </p:sp>
      <p:sp>
        <p:nvSpPr>
          <p:cNvPr id="10" name="Text 7"/>
          <p:cNvSpPr/>
          <p:nvPr/>
        </p:nvSpPr>
        <p:spPr>
          <a:xfrm>
            <a:off x="996696" y="2414016"/>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Declare before, not after</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Use the confidential route — ⟨Medical declaration route⟩ — before a test and before starting safety-critical work on something new. You never have to tell your line manager what the condition is.</a:t>
            </a:r>
            <a:endParaRPr lang="en-US" sz="1350" dirty="0"/>
          </a:p>
        </p:txBody>
      </p:sp>
      <p:sp>
        <p:nvSpPr>
          <p:cNvPr id="11" name="Shape 8"/>
          <p:cNvSpPr/>
          <p:nvPr/>
        </p:nvSpPr>
        <p:spPr>
          <a:xfrm>
            <a:off x="6278728" y="2267712"/>
            <a:ext cx="5135728" cy="1371600"/>
          </a:xfrm>
          <a:prstGeom prst="rect">
            <a:avLst/>
          </a:prstGeom>
          <a:solidFill>
            <a:srgbClr val="FFFFFF"/>
          </a:solidFill>
          <a:ln w="9525">
            <a:solidFill>
              <a:srgbClr val="DCE3E6"/>
            </a:solidFill>
            <a:prstDash val="solid"/>
          </a:ln>
        </p:spPr>
      </p:sp>
      <p:sp>
        <p:nvSpPr>
          <p:cNvPr id="12" name="Text 9"/>
          <p:cNvSpPr/>
          <p:nvPr/>
        </p:nvSpPr>
        <p:spPr>
          <a:xfrm>
            <a:off x="6498184" y="2414016"/>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Read the label</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“May cause drowsiness”, “do not drive”, “do not operate machinery”. Those warnings describe the work many of you do. Raise it so the task can be looked at.</a:t>
            </a:r>
            <a:endParaRPr lang="en-US" sz="1350" dirty="0"/>
          </a:p>
        </p:txBody>
      </p:sp>
      <p:sp>
        <p:nvSpPr>
          <p:cNvPr id="13" name="Shape 10"/>
          <p:cNvSpPr/>
          <p:nvPr/>
        </p:nvSpPr>
        <p:spPr>
          <a:xfrm>
            <a:off x="777240" y="3895344"/>
            <a:ext cx="5135728" cy="1371600"/>
          </a:xfrm>
          <a:prstGeom prst="rect">
            <a:avLst/>
          </a:prstGeom>
          <a:solidFill>
            <a:srgbClr val="F3F5F6"/>
          </a:solidFill>
          <a:ln w="9525">
            <a:solidFill>
              <a:srgbClr val="DCE3E6"/>
            </a:solidFill>
            <a:prstDash val="solid"/>
          </a:ln>
        </p:spPr>
      </p:sp>
      <p:sp>
        <p:nvSpPr>
          <p:cNvPr id="14" name="Text 11"/>
          <p:cNvSpPr/>
          <p:nvPr/>
        </p:nvSpPr>
        <p:spPr>
          <a:xfrm>
            <a:off x="996696" y="4041648"/>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Prescribed cannabis-based products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They are medication and go through medical review, where a clinician assesses the laboratory finding against the declared prescription.</a:t>
            </a:r>
            <a:endParaRPr lang="en-US" sz="1350" dirty="0"/>
          </a:p>
        </p:txBody>
      </p:sp>
      <p:sp>
        <p:nvSpPr>
          <p:cNvPr id="15" name="Shape 12"/>
          <p:cNvSpPr/>
          <p:nvPr/>
        </p:nvSpPr>
        <p:spPr>
          <a:xfrm>
            <a:off x="6278728" y="3895344"/>
            <a:ext cx="5135728" cy="1371600"/>
          </a:xfrm>
          <a:prstGeom prst="rect">
            <a:avLst/>
          </a:prstGeom>
          <a:solidFill>
            <a:srgbClr val="F3F5F6"/>
          </a:solidFill>
          <a:ln w="9525">
            <a:solidFill>
              <a:srgbClr val="DCE3E6"/>
            </a:solidFill>
            <a:prstDash val="solid"/>
          </a:ln>
        </p:spPr>
      </p:sp>
      <p:sp>
        <p:nvSpPr>
          <p:cNvPr id="16" name="Text 13"/>
          <p:cNvSpPr/>
          <p:nvPr/>
        </p:nvSpPr>
        <p:spPr>
          <a:xfrm>
            <a:off x="6498184" y="4041648"/>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CBD products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These are not tightly regulated and some contain more than the label claims. If you use one, declare it through the same confidential route.</a:t>
            </a:r>
            <a:endParaRPr lang="en-US" sz="1350" dirty="0"/>
          </a:p>
        </p:txBody>
      </p:sp>
      <p:sp>
        <p:nvSpPr>
          <p:cNvPr id="17" name="Text 14"/>
          <p:cNvSpPr/>
          <p:nvPr/>
        </p:nvSpPr>
        <p:spPr>
          <a:xfrm>
            <a:off x="777240" y="5577840"/>
            <a:ext cx="8899855" cy="365760"/>
          </a:xfrm>
          <a:prstGeom prst="rect">
            <a:avLst/>
          </a:prstGeom>
          <a:noFill/>
          <a:ln/>
        </p:spPr>
        <p:txBody>
          <a:bodyPr wrap="square" lIns="0" tIns="0" rIns="0" bIns="0" rtlCol="0" anchor="t"/>
          <a:lstStyle/>
          <a:p>
            <a:pPr indent="0" marL="0">
              <a:buNone/>
            </a:pPr>
            <a:r>
              <a:rPr lang="en-US" sz="1300" dirty="0">
                <a:solidFill>
                  <a:srgbClr val="63686C"/>
                </a:solidFill>
                <a:latin typeface="Open Sans" pitchFamily="34" charset="0"/>
                <a:ea typeface="Open Sans" pitchFamily="34" charset="-122"/>
                <a:cs typeface="Open Sans" pitchFamily="34" charset="-120"/>
              </a:rPr>
              <a:t>Clinical detail goes to the reviewing clinician, not to management. The authorised contact receives an outcome only.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05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Your rights</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Your rights through the process</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Consent, dignity, confidentiality, and who is allowed to see a result.</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Shape 5"/>
          <p:cNvSpPr/>
          <p:nvPr/>
        </p:nvSpPr>
        <p:spPr>
          <a:xfrm>
            <a:off x="777240" y="2286000"/>
            <a:ext cx="5135728" cy="1371600"/>
          </a:xfrm>
          <a:prstGeom prst="rect">
            <a:avLst/>
          </a:prstGeom>
          <a:solidFill>
            <a:srgbClr val="FFFFFF"/>
          </a:solidFill>
          <a:ln w="9525">
            <a:solidFill>
              <a:srgbClr val="DCE3E6"/>
            </a:solidFill>
            <a:prstDash val="solid"/>
          </a:ln>
        </p:spPr>
      </p:sp>
      <p:sp>
        <p:nvSpPr>
          <p:cNvPr id="9" name="Text 6"/>
          <p:cNvSpPr/>
          <p:nvPr/>
        </p:nvSpPr>
        <p:spPr>
          <a:xfrm>
            <a:off x="996696" y="2432304"/>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Consent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A sample is given with your agreement, after the procedure has been explained. You may ask for it to be explained again at any point.</a:t>
            </a:r>
            <a:endParaRPr lang="en-US" sz="1350" dirty="0"/>
          </a:p>
        </p:txBody>
      </p:sp>
      <p:sp>
        <p:nvSpPr>
          <p:cNvPr id="10" name="Shape 7"/>
          <p:cNvSpPr/>
          <p:nvPr/>
        </p:nvSpPr>
        <p:spPr>
          <a:xfrm>
            <a:off x="6278728" y="2286000"/>
            <a:ext cx="5135728" cy="1371600"/>
          </a:xfrm>
          <a:prstGeom prst="rect">
            <a:avLst/>
          </a:prstGeom>
          <a:solidFill>
            <a:srgbClr val="FFFFFF"/>
          </a:solidFill>
          <a:ln w="9525">
            <a:solidFill>
              <a:srgbClr val="DCE3E6"/>
            </a:solidFill>
            <a:prstDash val="solid"/>
          </a:ln>
        </p:spPr>
      </p:sp>
      <p:sp>
        <p:nvSpPr>
          <p:cNvPr id="11" name="Text 8"/>
          <p:cNvSpPr/>
          <p:nvPr/>
        </p:nvSpPr>
        <p:spPr>
          <a:xfrm>
            <a:off x="6498184" y="2432304"/>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Dignity</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A private room is used, never the canteen or the shop floor. Nobody supervises you in a way that would embarrass you.</a:t>
            </a:r>
            <a:endParaRPr lang="en-US" sz="1350" dirty="0"/>
          </a:p>
        </p:txBody>
      </p:sp>
      <p:sp>
        <p:nvSpPr>
          <p:cNvPr id="12" name="Shape 9"/>
          <p:cNvSpPr/>
          <p:nvPr/>
        </p:nvSpPr>
        <p:spPr>
          <a:xfrm>
            <a:off x="777240" y="3931920"/>
            <a:ext cx="5135728" cy="1371600"/>
          </a:xfrm>
          <a:prstGeom prst="rect">
            <a:avLst/>
          </a:prstGeom>
          <a:solidFill>
            <a:srgbClr val="F3F5F6"/>
          </a:solidFill>
          <a:ln w="9525">
            <a:solidFill>
              <a:srgbClr val="DCE3E6"/>
            </a:solidFill>
            <a:prstDash val="solid"/>
          </a:ln>
        </p:spPr>
      </p:sp>
      <p:sp>
        <p:nvSpPr>
          <p:cNvPr id="13" name="Text 10"/>
          <p:cNvSpPr/>
          <p:nvPr/>
        </p:nvSpPr>
        <p:spPr>
          <a:xfrm>
            <a:off x="996696" y="4078224"/>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Confidentiality</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A result is health data, a special category with stronger protection. Only the authorised contacts named in the policy see it.</a:t>
            </a:r>
            <a:endParaRPr lang="en-US" sz="1350" dirty="0"/>
          </a:p>
        </p:txBody>
      </p:sp>
      <p:sp>
        <p:nvSpPr>
          <p:cNvPr id="14" name="Shape 11"/>
          <p:cNvSpPr/>
          <p:nvPr/>
        </p:nvSpPr>
        <p:spPr>
          <a:xfrm>
            <a:off x="6278728" y="3931920"/>
            <a:ext cx="5135728" cy="1371600"/>
          </a:xfrm>
          <a:prstGeom prst="rect">
            <a:avLst/>
          </a:prstGeom>
          <a:solidFill>
            <a:srgbClr val="F3F5F6"/>
          </a:solidFill>
          <a:ln w="9525">
            <a:solidFill>
              <a:srgbClr val="DCE3E6"/>
            </a:solidFill>
            <a:prstDash val="solid"/>
          </a:ln>
        </p:spPr>
      </p:sp>
      <p:sp>
        <p:nvSpPr>
          <p:cNvPr id="15" name="Text 12"/>
          <p:cNvSpPr/>
          <p:nvPr/>
        </p:nvSpPr>
        <p:spPr>
          <a:xfrm>
            <a:off x="6498184" y="4078224"/>
            <a:ext cx="4696816" cy="109728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Your information</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You can ask what is held about you, ask for a copy, and ask for inaccurate information to be corrected. Records are kept only for the period the policy sets out.</a:t>
            </a:r>
            <a:endParaRPr lang="en-US" sz="1350" dirty="0"/>
          </a:p>
        </p:txBody>
      </p:sp>
      <p:sp>
        <p:nvSpPr>
          <p:cNvPr id="16" name="Text 13"/>
          <p:cNvSpPr/>
          <p:nvPr/>
        </p:nvSpPr>
        <p:spPr>
          <a:xfrm>
            <a:off x="777240" y="5504688"/>
            <a:ext cx="8899855" cy="365760"/>
          </a:xfrm>
          <a:prstGeom prst="rect">
            <a:avLst/>
          </a:prstGeom>
          <a:noFill/>
          <a:ln/>
        </p:spPr>
        <p:txBody>
          <a:bodyPr wrap="square" lIns="0" tIns="0" rIns="0" bIns="0" rtlCol="0" anchor="t"/>
          <a:lstStyle/>
          <a:p>
            <a:pPr indent="0" marL="0">
              <a:buNone/>
            </a:pPr>
            <a:r>
              <a:rPr lang="en-US" sz="1450" dirty="0">
                <a:solidFill>
                  <a:srgbClr val="2A8BA3"/>
                </a:solidFill>
                <a:latin typeface="Open Sans SemiBold" pitchFamily="34" charset="0"/>
                <a:ea typeface="Open Sans SemiBold" pitchFamily="34" charset="-122"/>
                <a:cs typeface="Open Sans SemiBold" pitchFamily="34" charset="-120"/>
              </a:rPr>
              <a:t>A supervisor is told whether you are fit for work. A supervisor is not told what was found.</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05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Refusal</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Refusing a test, and interfering with a sample</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Both are treated as seriously as a confirmed positive result.</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Text 5"/>
          <p:cNvSpPr/>
          <p:nvPr/>
        </p:nvSpPr>
        <p:spPr>
          <a:xfrm>
            <a:off x="777240" y="2377440"/>
            <a:ext cx="502920" cy="384048"/>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01</a:t>
            </a:r>
            <a:endParaRPr lang="en-US" sz="1400" dirty="0"/>
          </a:p>
        </p:txBody>
      </p:sp>
      <p:sp>
        <p:nvSpPr>
          <p:cNvPr id="9" name="Text 6"/>
          <p:cNvSpPr/>
          <p:nvPr/>
        </p:nvSpPr>
        <p:spPr>
          <a:xfrm>
            <a:off x="1344168" y="2377440"/>
            <a:ext cx="9997135" cy="457200"/>
          </a:xfrm>
          <a:prstGeom prst="rect">
            <a:avLst/>
          </a:prstGeom>
          <a:noFill/>
          <a:ln/>
        </p:spPr>
        <p:txBody>
          <a:bodyPr wrap="square" lIns="0" tIns="0" rIns="0" bIns="0" rtlCol="0" anchor="t"/>
          <a:lstStyle/>
          <a:p>
            <a:pPr indent="0" marL="0">
              <a:lnSpc>
                <a:spcPts val="2000"/>
              </a:lnSpc>
              <a:buNone/>
            </a:pPr>
            <a:r>
              <a:rPr lang="en-US" sz="1400" dirty="0">
                <a:solidFill>
                  <a:srgbClr val="2C2D2F"/>
                </a:solidFill>
                <a:latin typeface="Open Sans" pitchFamily="34" charset="0"/>
                <a:ea typeface="Open Sans" pitchFamily="34" charset="-122"/>
                <a:cs typeface="Open Sans" pitchFamily="34" charset="-120"/>
              </a:rPr>
              <a:t>Refusing to provide a sample without good reason is generally treated the same as a positive result</a:t>
            </a:r>
            <a:endParaRPr lang="en-US" sz="1400" dirty="0"/>
          </a:p>
        </p:txBody>
      </p:sp>
      <p:sp>
        <p:nvSpPr>
          <p:cNvPr id="10" name="Text 7"/>
          <p:cNvSpPr/>
          <p:nvPr/>
        </p:nvSpPr>
        <p:spPr>
          <a:xfrm>
            <a:off x="777240" y="2980944"/>
            <a:ext cx="502920" cy="384048"/>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02</a:t>
            </a:r>
            <a:endParaRPr lang="en-US" sz="1400" dirty="0"/>
          </a:p>
        </p:txBody>
      </p:sp>
      <p:sp>
        <p:nvSpPr>
          <p:cNvPr id="11" name="Text 8"/>
          <p:cNvSpPr/>
          <p:nvPr/>
        </p:nvSpPr>
        <p:spPr>
          <a:xfrm>
            <a:off x="1344168" y="2980944"/>
            <a:ext cx="9997135" cy="457200"/>
          </a:xfrm>
          <a:prstGeom prst="rect">
            <a:avLst/>
          </a:prstGeom>
          <a:noFill/>
          <a:ln/>
        </p:spPr>
        <p:txBody>
          <a:bodyPr wrap="square" lIns="0" tIns="0" rIns="0" bIns="0" rtlCol="0" anchor="t"/>
          <a:lstStyle/>
          <a:p>
            <a:pPr indent="0" marL="0">
              <a:lnSpc>
                <a:spcPts val="2000"/>
              </a:lnSpc>
              <a:buNone/>
            </a:pPr>
            <a:r>
              <a:rPr lang="en-US" sz="1400" dirty="0">
                <a:solidFill>
                  <a:srgbClr val="2C2D2F"/>
                </a:solidFill>
                <a:latin typeface="Open Sans" pitchFamily="34" charset="0"/>
                <a:ea typeface="Open Sans" pitchFamily="34" charset="-122"/>
                <a:cs typeface="Open Sans" pitchFamily="34" charset="-120"/>
              </a:rPr>
              <a:t>Walking away, delaying until the collector leaves, or leaving site when asked are all treated as refusal</a:t>
            </a:r>
            <a:endParaRPr lang="en-US" sz="1400" dirty="0"/>
          </a:p>
        </p:txBody>
      </p:sp>
      <p:sp>
        <p:nvSpPr>
          <p:cNvPr id="12" name="Text 9"/>
          <p:cNvSpPr/>
          <p:nvPr/>
        </p:nvSpPr>
        <p:spPr>
          <a:xfrm>
            <a:off x="777240" y="3584448"/>
            <a:ext cx="502920" cy="384048"/>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03</a:t>
            </a:r>
            <a:endParaRPr lang="en-US" sz="1400" dirty="0"/>
          </a:p>
        </p:txBody>
      </p:sp>
      <p:sp>
        <p:nvSpPr>
          <p:cNvPr id="13" name="Text 10"/>
          <p:cNvSpPr/>
          <p:nvPr/>
        </p:nvSpPr>
        <p:spPr>
          <a:xfrm>
            <a:off x="1344168" y="3584448"/>
            <a:ext cx="9997135" cy="457200"/>
          </a:xfrm>
          <a:prstGeom prst="rect">
            <a:avLst/>
          </a:prstGeom>
          <a:noFill/>
          <a:ln/>
        </p:spPr>
        <p:txBody>
          <a:bodyPr wrap="square" lIns="0" tIns="0" rIns="0" bIns="0" rtlCol="0" anchor="t"/>
          <a:lstStyle/>
          <a:p>
            <a:pPr indent="0" marL="0">
              <a:lnSpc>
                <a:spcPts val="2000"/>
              </a:lnSpc>
              <a:buNone/>
            </a:pPr>
            <a:r>
              <a:rPr lang="en-US" sz="1400" dirty="0">
                <a:solidFill>
                  <a:srgbClr val="2C2D2F"/>
                </a:solidFill>
                <a:latin typeface="Open Sans" pitchFamily="34" charset="0"/>
                <a:ea typeface="Open Sans" pitchFamily="34" charset="-122"/>
                <a:cs typeface="Open Sans" pitchFamily="34" charset="-120"/>
              </a:rPr>
              <a:t>Substituting, diluting or adding anything to a sample is treated as tampering, and the attempt is the issue</a:t>
            </a:r>
            <a:endParaRPr lang="en-US" sz="1400" dirty="0"/>
          </a:p>
        </p:txBody>
      </p:sp>
      <p:sp>
        <p:nvSpPr>
          <p:cNvPr id="14" name="Text 11"/>
          <p:cNvSpPr/>
          <p:nvPr/>
        </p:nvSpPr>
        <p:spPr>
          <a:xfrm>
            <a:off x="777240" y="4187952"/>
            <a:ext cx="502920" cy="384048"/>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04</a:t>
            </a:r>
            <a:endParaRPr lang="en-US" sz="1400" dirty="0"/>
          </a:p>
        </p:txBody>
      </p:sp>
      <p:sp>
        <p:nvSpPr>
          <p:cNvPr id="15" name="Text 12"/>
          <p:cNvSpPr/>
          <p:nvPr/>
        </p:nvSpPr>
        <p:spPr>
          <a:xfrm>
            <a:off x="1344168" y="4187952"/>
            <a:ext cx="9997135" cy="457200"/>
          </a:xfrm>
          <a:prstGeom prst="rect">
            <a:avLst/>
          </a:prstGeom>
          <a:noFill/>
          <a:ln/>
        </p:spPr>
        <p:txBody>
          <a:bodyPr wrap="square" lIns="0" tIns="0" rIns="0" bIns="0" rtlCol="0" anchor="t"/>
          <a:lstStyle/>
          <a:p>
            <a:pPr indent="0" marL="0">
              <a:lnSpc>
                <a:spcPts val="2000"/>
              </a:lnSpc>
              <a:buNone/>
            </a:pPr>
            <a:r>
              <a:rPr lang="en-US" sz="1400" dirty="0">
                <a:solidFill>
                  <a:srgbClr val="2C2D2F"/>
                </a:solidFill>
                <a:latin typeface="Open Sans" pitchFamily="34" charset="0"/>
                <a:ea typeface="Open Sans" pitchFamily="34" charset="-122"/>
                <a:cs typeface="Open Sans" pitchFamily="34" charset="-120"/>
              </a:rPr>
              <a:t>Collection kits and laboratory checks are designed to reveal interference with a sample</a:t>
            </a:r>
            <a:endParaRPr lang="en-US" sz="1400" dirty="0"/>
          </a:p>
        </p:txBody>
      </p:sp>
      <p:sp>
        <p:nvSpPr>
          <p:cNvPr id="16" name="Text 13"/>
          <p:cNvSpPr/>
          <p:nvPr/>
        </p:nvSpPr>
        <p:spPr>
          <a:xfrm>
            <a:off x="777240" y="4791456"/>
            <a:ext cx="502920" cy="384048"/>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05</a:t>
            </a:r>
            <a:endParaRPr lang="en-US" sz="1400" dirty="0"/>
          </a:p>
        </p:txBody>
      </p:sp>
      <p:sp>
        <p:nvSpPr>
          <p:cNvPr id="17" name="Text 14"/>
          <p:cNvSpPr/>
          <p:nvPr/>
        </p:nvSpPr>
        <p:spPr>
          <a:xfrm>
            <a:off x="1344168" y="4791456"/>
            <a:ext cx="9997135" cy="457200"/>
          </a:xfrm>
          <a:prstGeom prst="rect">
            <a:avLst/>
          </a:prstGeom>
          <a:noFill/>
          <a:ln/>
        </p:spPr>
        <p:txBody>
          <a:bodyPr wrap="square" lIns="0" tIns="0" rIns="0" bIns="0" rtlCol="0" anchor="t"/>
          <a:lstStyle/>
          <a:p>
            <a:pPr indent="0" marL="0">
              <a:lnSpc>
                <a:spcPts val="2000"/>
              </a:lnSpc>
              <a:buNone/>
            </a:pPr>
            <a:r>
              <a:rPr lang="en-US" sz="1400" dirty="0">
                <a:solidFill>
                  <a:srgbClr val="2C2D2F"/>
                </a:solidFill>
                <a:latin typeface="Open Sans" pitchFamily="34" charset="0"/>
                <a:ea typeface="Open Sans" pitchFamily="34" charset="-122"/>
                <a:cs typeface="Open Sans" pitchFamily="34" charset="-120"/>
              </a:rPr>
              <a:t>If you have a genuine reason you cannot provide a sample, say so at the time so that it can be recorded</a:t>
            </a:r>
            <a:endParaRPr lang="en-US" sz="1400" dirty="0"/>
          </a:p>
        </p:txBody>
      </p:sp>
      <p:sp>
        <p:nvSpPr>
          <p:cNvPr id="18" name="Shape 15"/>
          <p:cNvSpPr/>
          <p:nvPr/>
        </p:nvSpPr>
        <p:spPr>
          <a:xfrm>
            <a:off x="777240" y="5440680"/>
            <a:ext cx="10637215" cy="731520"/>
          </a:xfrm>
          <a:prstGeom prst="rect">
            <a:avLst/>
          </a:prstGeom>
          <a:solidFill>
            <a:srgbClr val="EAF4F7"/>
          </a:solidFill>
          <a:ln w="9525">
            <a:solidFill>
              <a:srgbClr val="DCE3E6"/>
            </a:solidFill>
            <a:prstDash val="solid"/>
          </a:ln>
        </p:spPr>
      </p:sp>
      <p:sp>
        <p:nvSpPr>
          <p:cNvPr id="19" name="Text 16"/>
          <p:cNvSpPr/>
          <p:nvPr/>
        </p:nvSpPr>
        <p:spPr>
          <a:xfrm>
            <a:off x="1051560" y="5623560"/>
            <a:ext cx="10088575" cy="411480"/>
          </a:xfrm>
          <a:prstGeom prst="rect">
            <a:avLst/>
          </a:prstGeom>
          <a:noFill/>
          <a:ln/>
        </p:spPr>
        <p:txBody>
          <a:bodyPr wrap="square" lIns="0" tIns="0" rIns="0" bIns="0" rtlCol="0" anchor="t"/>
          <a:lstStyle/>
          <a:p>
            <a:pPr indent="0" marL="0">
              <a:buNone/>
            </a:pPr>
            <a:r>
              <a:rPr lang="en-US" sz="1350" dirty="0">
                <a:solidFill>
                  <a:srgbClr val="2C2D2F"/>
                </a:solidFill>
                <a:latin typeface="Open Sans" pitchFamily="34" charset="0"/>
                <a:ea typeface="Open Sans" pitchFamily="34" charset="-122"/>
                <a:cs typeface="Open Sans" pitchFamily="34" charset="-120"/>
              </a:rPr>
              <a:t>Nobody is asked to prove they are innocent. The process is there so that decisions rest on evidence rather than an opinion on site.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06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Support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Where to go if this is becoming a problem</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Take a photograph of this slide. Asking for help is not a breach of the policy.</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nidirect — getting help with drug or alcohol problems</a:t>
            </a:r>
            <a:pPr indent="0" marL="0">
              <a:buNone/>
            </a:pPr>
            <a:r>
              <a:rPr lang="en-US" sz="900" dirty="0">
                <a:solidFill>
                  <a:srgbClr val="63686C"/>
                </a:solidFill>
                <a:latin typeface="Open Sans" pitchFamily="34" charset="0"/>
                <a:ea typeface="Open Sans" pitchFamily="34" charset="-122"/>
                <a:cs typeface="Open Sans" pitchFamily="34" charset="-120"/>
              </a:rPr>
              <a:t> · </a:t>
            </a:r>
            <a:pPr indent="0" marL="0">
              <a:buNone/>
            </a:pPr>
            <a:r>
              <a:rPr lang="en-US" sz="900" u="sng" dirty="0">
                <a:solidFill>
                  <a:srgbClr val="1F6E82"/>
                </a:solidFill>
                <a:latin typeface="Open Sans" pitchFamily="34" charset="0"/>
                <a:ea typeface="Open Sans" pitchFamily="34" charset="-122"/>
                <a:cs typeface="Open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Inspire — addiction services</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Northern Ireland version — keep if you operate in NI, delete the others</a:t>
            </a:r>
            <a:endParaRPr lang="en-US" sz="1000" dirty="0"/>
          </a:p>
        </p:txBody>
      </p:sp>
      <p:sp>
        <p:nvSpPr>
          <p:cNvPr id="8" name="Text 6"/>
          <p:cNvSpPr/>
          <p:nvPr/>
        </p:nvSpPr>
        <p:spPr>
          <a:xfrm>
            <a:off x="777240" y="5559552"/>
            <a:ext cx="8899855" cy="310896"/>
          </a:xfrm>
          <a:prstGeom prst="rect">
            <a:avLst/>
          </a:prstGeom>
          <a:noFill/>
          <a:ln/>
        </p:spPr>
        <p:txBody>
          <a:bodyPr wrap="square" lIns="0" tIns="0" rIns="0" bIns="0" rtlCol="0" anchor="ctr"/>
          <a:lstStyle/>
          <a:p>
            <a:pPr indent="0" marL="0">
              <a:buNone/>
            </a:pPr>
            <a:r>
              <a:rPr lang="en-US" sz="1000" i="1" dirty="0">
                <a:solidFill>
                  <a:srgbClr val="63686C"/>
                </a:solidFill>
                <a:latin typeface="Open Sans" pitchFamily="34" charset="0"/>
                <a:ea typeface="Open Sans" pitchFamily="34" charset="-122"/>
                <a:cs typeface="Open Sans" pitchFamily="34" charset="-120"/>
              </a:rPr>
              <a:t>The employee assistance programme line is shown only when a programme is in place.</a:t>
            </a:r>
            <a:endParaRPr lang="en-US" sz="1000" dirty="0"/>
          </a:p>
        </p:txBody>
      </p:sp>
      <p:sp>
        <p:nvSpPr>
          <p:cNvPr id="9" name="Text 7"/>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1" name="Shape 8"/>
          <p:cNvSpPr/>
          <p:nvPr/>
        </p:nvSpPr>
        <p:spPr>
          <a:xfrm>
            <a:off x="777240" y="2286000"/>
            <a:ext cx="5135728" cy="1280160"/>
          </a:xfrm>
          <a:prstGeom prst="rect">
            <a:avLst/>
          </a:prstGeom>
          <a:solidFill>
            <a:srgbClr val="FFFFFF"/>
          </a:solidFill>
          <a:ln w="9525">
            <a:solidFill>
              <a:srgbClr val="DCE3E6"/>
            </a:solidFill>
            <a:prstDash val="solid"/>
          </a:ln>
        </p:spPr>
      </p:sp>
      <p:sp>
        <p:nvSpPr>
          <p:cNvPr id="12" name="Text 9"/>
          <p:cNvSpPr/>
          <p:nvPr/>
        </p:nvSpPr>
        <p:spPr>
          <a:xfrm>
            <a:off x="996696"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Come forward first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Self-referral before you are selected for testing is treated as a health matter, with support. Coming forward is not the same as being found out, and the policy recognises the difference.</a:t>
            </a:r>
            <a:endParaRPr lang="en-US" sz="1350" dirty="0"/>
          </a:p>
        </p:txBody>
      </p:sp>
      <p:sp>
        <p:nvSpPr>
          <p:cNvPr id="13" name="Shape 10"/>
          <p:cNvSpPr/>
          <p:nvPr/>
        </p:nvSpPr>
        <p:spPr>
          <a:xfrm>
            <a:off x="6278728" y="2286000"/>
            <a:ext cx="5135728" cy="1280160"/>
          </a:xfrm>
          <a:prstGeom prst="rect">
            <a:avLst/>
          </a:prstGeom>
          <a:solidFill>
            <a:srgbClr val="FFFFFF"/>
          </a:solidFill>
          <a:ln w="9525">
            <a:solidFill>
              <a:srgbClr val="DCE3E6"/>
            </a:solidFill>
            <a:prstDash val="solid"/>
          </a:ln>
        </p:spPr>
      </p:sp>
      <p:sp>
        <p:nvSpPr>
          <p:cNvPr id="14" name="Text 11"/>
          <p:cNvSpPr/>
          <p:nvPr/>
        </p:nvSpPr>
        <p:spPr>
          <a:xfrm>
            <a:off x="6498184"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Confidentially, here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Speak to ⟨Support contact⟩, or use the employee assistance programme where one is in place. This is a health route, not a disciplinary one.</a:t>
            </a:r>
            <a:endParaRPr lang="en-US" sz="1350" dirty="0"/>
          </a:p>
        </p:txBody>
      </p:sp>
      <p:sp>
        <p:nvSpPr>
          <p:cNvPr id="15" name="Shape 12"/>
          <p:cNvSpPr/>
          <p:nvPr/>
        </p:nvSpPr>
        <p:spPr>
          <a:xfrm>
            <a:off x="777240" y="3822192"/>
            <a:ext cx="5135728" cy="1280160"/>
          </a:xfrm>
          <a:prstGeom prst="rect">
            <a:avLst/>
          </a:prstGeom>
          <a:solidFill>
            <a:srgbClr val="F3F5F6"/>
          </a:solidFill>
          <a:ln w="9525">
            <a:solidFill>
              <a:srgbClr val="DCE3E6"/>
            </a:solidFill>
            <a:prstDash val="solid"/>
          </a:ln>
        </p:spPr>
      </p:sp>
      <p:sp>
        <p:nvSpPr>
          <p:cNvPr id="16" name="Text 13"/>
          <p:cNvSpPr/>
          <p:nvPr/>
        </p:nvSpPr>
        <p:spPr>
          <a:xfrm>
            <a:off x="996696"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Your GP</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Your GP can treat this as the health matter it is, and that route involves your employer not at all.</a:t>
            </a:r>
            <a:endParaRPr lang="en-US" sz="1350" dirty="0"/>
          </a:p>
        </p:txBody>
      </p:sp>
      <p:sp>
        <p:nvSpPr>
          <p:cNvPr id="17" name="Shape 14"/>
          <p:cNvSpPr/>
          <p:nvPr/>
        </p:nvSpPr>
        <p:spPr>
          <a:xfrm>
            <a:off x="6278728" y="3822192"/>
            <a:ext cx="5135728" cy="1280160"/>
          </a:xfrm>
          <a:prstGeom prst="rect">
            <a:avLst/>
          </a:prstGeom>
          <a:solidFill>
            <a:srgbClr val="F3F5F6"/>
          </a:solidFill>
          <a:ln w="9525">
            <a:solidFill>
              <a:srgbClr val="DCE3E6"/>
            </a:solidFill>
            <a:prstDash val="solid"/>
          </a:ln>
        </p:spPr>
      </p:sp>
      <p:sp>
        <p:nvSpPr>
          <p:cNvPr id="18" name="Text 15"/>
          <p:cNvSpPr/>
          <p:nvPr/>
        </p:nvSpPr>
        <p:spPr>
          <a:xfrm>
            <a:off x="6498184"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Public services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 services listed on nidirect, and the addiction services run by Inspire. Both are open to anybody, at any stage, and neither goes through your employer.</a:t>
            </a:r>
            <a:endParaRPr lang="en-US" sz="1350" dirty="0"/>
          </a:p>
        </p:txBody>
      </p:sp>
      <p:sp>
        <p:nvSpPr>
          <p:cNvPr id="19" name="Text 16"/>
          <p:cNvSpPr/>
          <p:nvPr/>
        </p:nvSpPr>
        <p:spPr>
          <a:xfrm>
            <a:off x="777240" y="5285232"/>
            <a:ext cx="8899855" cy="365760"/>
          </a:xfrm>
          <a:prstGeom prst="rect">
            <a:avLst/>
          </a:prstGeom>
          <a:noFill/>
          <a:ln/>
        </p:spPr>
        <p:txBody>
          <a:bodyPr wrap="square" lIns="0" tIns="0" rIns="0" bIns="0" rtlCol="0" anchor="t"/>
          <a:lstStyle/>
          <a:p>
            <a:pPr indent="0" marL="0">
              <a:buNone/>
            </a:pPr>
            <a:r>
              <a:rPr lang="en-US" sz="1500" i="1" dirty="0">
                <a:solidFill>
                  <a:srgbClr val="2C2D2F"/>
                </a:solidFill>
                <a:latin typeface="Open Sans" pitchFamily="34" charset="0"/>
                <a:ea typeface="Open Sans" pitchFamily="34" charset="-122"/>
                <a:cs typeface="Open Sans" pitchFamily="34" charset="-120"/>
              </a:rPr>
              <a:t>Asking for help is not a breach of any policy worth having.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06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Support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Where to go if this is becoming a problem</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Take a photograph of this slide. Asking for help is not a breach of the policy.</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HSE Drugs and Alcohol Helpline</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Republic of Ireland version — keep if you operate in ROI, delete the others</a:t>
            </a:r>
            <a:endParaRPr lang="en-US" sz="1000" dirty="0"/>
          </a:p>
        </p:txBody>
      </p:sp>
      <p:sp>
        <p:nvSpPr>
          <p:cNvPr id="8" name="Text 6"/>
          <p:cNvSpPr/>
          <p:nvPr/>
        </p:nvSpPr>
        <p:spPr>
          <a:xfrm>
            <a:off x="777240" y="5559552"/>
            <a:ext cx="8899855" cy="310896"/>
          </a:xfrm>
          <a:prstGeom prst="rect">
            <a:avLst/>
          </a:prstGeom>
          <a:noFill/>
          <a:ln/>
        </p:spPr>
        <p:txBody>
          <a:bodyPr wrap="square" lIns="0" tIns="0" rIns="0" bIns="0" rtlCol="0" anchor="ctr"/>
          <a:lstStyle/>
          <a:p>
            <a:pPr indent="0" marL="0">
              <a:buNone/>
            </a:pPr>
            <a:r>
              <a:rPr lang="en-US" sz="1000" i="1" dirty="0">
                <a:solidFill>
                  <a:srgbClr val="63686C"/>
                </a:solidFill>
                <a:latin typeface="Open Sans" pitchFamily="34" charset="0"/>
                <a:ea typeface="Open Sans" pitchFamily="34" charset="-122"/>
                <a:cs typeface="Open Sans" pitchFamily="34" charset="-120"/>
              </a:rPr>
              <a:t>The employee assistance programme line is shown only when a programme is in place.</a:t>
            </a:r>
            <a:endParaRPr lang="en-US" sz="1000" dirty="0"/>
          </a:p>
        </p:txBody>
      </p:sp>
      <p:sp>
        <p:nvSpPr>
          <p:cNvPr id="9" name="Text 7"/>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1" name="Shape 8"/>
          <p:cNvSpPr/>
          <p:nvPr/>
        </p:nvSpPr>
        <p:spPr>
          <a:xfrm>
            <a:off x="777240" y="2286000"/>
            <a:ext cx="5135728" cy="1280160"/>
          </a:xfrm>
          <a:prstGeom prst="rect">
            <a:avLst/>
          </a:prstGeom>
          <a:solidFill>
            <a:srgbClr val="FFFFFF"/>
          </a:solidFill>
          <a:ln w="9525">
            <a:solidFill>
              <a:srgbClr val="DCE3E6"/>
            </a:solidFill>
            <a:prstDash val="solid"/>
          </a:ln>
        </p:spPr>
      </p:sp>
      <p:sp>
        <p:nvSpPr>
          <p:cNvPr id="12" name="Text 9"/>
          <p:cNvSpPr/>
          <p:nvPr/>
        </p:nvSpPr>
        <p:spPr>
          <a:xfrm>
            <a:off x="996696"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Come forward first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Self-referral before you are selected for testing is treated as a health matter, with support. Coming forward is not the same as being found out, and the policy recognises the difference.</a:t>
            </a:r>
            <a:endParaRPr lang="en-US" sz="1350" dirty="0"/>
          </a:p>
        </p:txBody>
      </p:sp>
      <p:sp>
        <p:nvSpPr>
          <p:cNvPr id="13" name="Shape 10"/>
          <p:cNvSpPr/>
          <p:nvPr/>
        </p:nvSpPr>
        <p:spPr>
          <a:xfrm>
            <a:off x="6278728" y="2286000"/>
            <a:ext cx="5135728" cy="1280160"/>
          </a:xfrm>
          <a:prstGeom prst="rect">
            <a:avLst/>
          </a:prstGeom>
          <a:solidFill>
            <a:srgbClr val="FFFFFF"/>
          </a:solidFill>
          <a:ln w="9525">
            <a:solidFill>
              <a:srgbClr val="DCE3E6"/>
            </a:solidFill>
            <a:prstDash val="solid"/>
          </a:ln>
        </p:spPr>
      </p:sp>
      <p:sp>
        <p:nvSpPr>
          <p:cNvPr id="14" name="Text 11"/>
          <p:cNvSpPr/>
          <p:nvPr/>
        </p:nvSpPr>
        <p:spPr>
          <a:xfrm>
            <a:off x="6498184"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Confidentially, here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Speak to ⟨Support contact⟩, or use the employee assistance programme where one is in place. This is a health route, not a disciplinary one.</a:t>
            </a:r>
            <a:endParaRPr lang="en-US" sz="1350" dirty="0"/>
          </a:p>
        </p:txBody>
      </p:sp>
      <p:sp>
        <p:nvSpPr>
          <p:cNvPr id="15" name="Shape 12"/>
          <p:cNvSpPr/>
          <p:nvPr/>
        </p:nvSpPr>
        <p:spPr>
          <a:xfrm>
            <a:off x="777240" y="3822192"/>
            <a:ext cx="5135728" cy="1280160"/>
          </a:xfrm>
          <a:prstGeom prst="rect">
            <a:avLst/>
          </a:prstGeom>
          <a:solidFill>
            <a:srgbClr val="F3F5F6"/>
          </a:solidFill>
          <a:ln w="9525">
            <a:solidFill>
              <a:srgbClr val="DCE3E6"/>
            </a:solidFill>
            <a:prstDash val="solid"/>
          </a:ln>
        </p:spPr>
      </p:sp>
      <p:sp>
        <p:nvSpPr>
          <p:cNvPr id="16" name="Text 13"/>
          <p:cNvSpPr/>
          <p:nvPr/>
        </p:nvSpPr>
        <p:spPr>
          <a:xfrm>
            <a:off x="996696"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Your GP</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Your GP can treat this as the health matter it is, and that route involves your employer not at all.</a:t>
            </a:r>
            <a:endParaRPr lang="en-US" sz="1350" dirty="0"/>
          </a:p>
        </p:txBody>
      </p:sp>
      <p:sp>
        <p:nvSpPr>
          <p:cNvPr id="17" name="Shape 14"/>
          <p:cNvSpPr/>
          <p:nvPr/>
        </p:nvSpPr>
        <p:spPr>
          <a:xfrm>
            <a:off x="6278728" y="3822192"/>
            <a:ext cx="5135728" cy="1280160"/>
          </a:xfrm>
          <a:prstGeom prst="rect">
            <a:avLst/>
          </a:prstGeom>
          <a:solidFill>
            <a:srgbClr val="F3F5F6"/>
          </a:solidFill>
          <a:ln w="9525">
            <a:solidFill>
              <a:srgbClr val="DCE3E6"/>
            </a:solidFill>
            <a:prstDash val="solid"/>
          </a:ln>
        </p:spPr>
      </p:sp>
      <p:sp>
        <p:nvSpPr>
          <p:cNvPr id="18" name="Text 15"/>
          <p:cNvSpPr/>
          <p:nvPr/>
        </p:nvSpPr>
        <p:spPr>
          <a:xfrm>
            <a:off x="6498184"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Public services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 HSE Drugs and Alcohol Helpline. It is open to anybody, at any stage, and it does not go through your employer.</a:t>
            </a:r>
            <a:endParaRPr lang="en-US" sz="1350" dirty="0"/>
          </a:p>
        </p:txBody>
      </p:sp>
      <p:sp>
        <p:nvSpPr>
          <p:cNvPr id="19" name="Text 16"/>
          <p:cNvSpPr/>
          <p:nvPr/>
        </p:nvSpPr>
        <p:spPr>
          <a:xfrm>
            <a:off x="777240" y="5285232"/>
            <a:ext cx="8899855" cy="365760"/>
          </a:xfrm>
          <a:prstGeom prst="rect">
            <a:avLst/>
          </a:prstGeom>
          <a:noFill/>
          <a:ln/>
        </p:spPr>
        <p:txBody>
          <a:bodyPr wrap="square" lIns="0" tIns="0" rIns="0" bIns="0" rtlCol="0" anchor="t"/>
          <a:lstStyle/>
          <a:p>
            <a:pPr indent="0" marL="0">
              <a:buNone/>
            </a:pPr>
            <a:r>
              <a:rPr lang="en-US" sz="1500" i="1" dirty="0">
                <a:solidFill>
                  <a:srgbClr val="2C2D2F"/>
                </a:solidFill>
                <a:latin typeface="Open Sans" pitchFamily="34" charset="0"/>
                <a:ea typeface="Open Sans" pitchFamily="34" charset="-122"/>
                <a:cs typeface="Open Sans" pitchFamily="34" charset="-120"/>
              </a:rPr>
              <a:t>Asking for help is not a breach of any policy worth having.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06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Support</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Where to go if this is becoming a problem</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Take a photograph of this slide. Asking for help is not a breach of the policy.</a:t>
            </a:r>
            <a:endParaRPr lang="en-US" sz="1500" dirty="0"/>
          </a:p>
        </p:txBody>
      </p:sp>
      <p:sp>
        <p:nvSpPr>
          <p:cNvPr id="6" name="Text 4"/>
          <p:cNvSpPr/>
          <p:nvPr/>
        </p:nvSpPr>
        <p:spPr>
          <a:xfrm>
            <a:off x="777240" y="5852160"/>
            <a:ext cx="10637215" cy="274320"/>
          </a:xfrm>
          <a:prstGeom prst="rect">
            <a:avLst/>
          </a:prstGeom>
          <a:noFill/>
          <a:ln/>
        </p:spPr>
        <p:txBody>
          <a:bodyPr wrap="square" lIns="0" tIns="0" rIns="0" bIns="0" rtlCol="0" anchor="ctr"/>
          <a:lstStyle/>
          <a:p>
            <a:pPr indent="0" marL="0">
              <a:buNone/>
            </a:pPr>
            <a:r>
              <a:rPr lang="en-US" sz="900" dirty="0">
                <a:solidFill>
                  <a:srgbClr val="63686C"/>
                </a:solidFill>
                <a:latin typeface="Open Sans" pitchFamily="34" charset="0"/>
                <a:ea typeface="Open Sans" pitchFamily="34" charset="-122"/>
                <a:cs typeface="Open Sans" pitchFamily="34" charset="-120"/>
              </a:rPr>
              <a:t>Source: </a:t>
            </a:r>
            <a:pPr indent="0" marL="0">
              <a:buNone/>
            </a:pPr>
            <a:r>
              <a:rPr lang="en-US" sz="900" u="sng" dirty="0">
                <a:solidFill>
                  <a:srgbClr val="1F6E82"/>
                </a:solidFill>
                <a:latin typeface="Open Sans" pitchFamily="34" charset="0"/>
                <a:ea typeface="Open Sans" pitchFamily="34" charset="-122"/>
                <a:cs typeface="Open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HSE — managing drug and alcohol misuse at work</a:t>
            </a:r>
            <a:endParaRPr lang="en-US" sz="900" dirty="0"/>
          </a:p>
        </p:txBody>
      </p:sp>
      <p:sp>
        <p:nvSpPr>
          <p:cNvPr id="7" name="Text 5"/>
          <p:cNvSpPr/>
          <p:nvPr/>
        </p:nvSpPr>
        <p:spPr>
          <a:xfrm>
            <a:off x="6293815" y="548640"/>
            <a:ext cx="5120640" cy="310896"/>
          </a:xfrm>
          <a:prstGeom prst="rect">
            <a:avLst/>
          </a:prstGeom>
          <a:noFill/>
          <a:ln/>
        </p:spPr>
        <p:txBody>
          <a:bodyPr wrap="square" lIns="0" tIns="0" rIns="0" bIns="0" rtlCol="0" anchor="ctr"/>
          <a:lstStyle/>
          <a:p>
            <a:pPr algn="r" indent="0" marL="0">
              <a:buNone/>
            </a:pPr>
            <a:r>
              <a:rPr lang="en-US" sz="1000" i="1" dirty="0">
                <a:solidFill>
                  <a:srgbClr val="63686C"/>
                </a:solidFill>
                <a:latin typeface="Open Sans" pitchFamily="34" charset="0"/>
                <a:ea typeface="Open Sans" pitchFamily="34" charset="-122"/>
                <a:cs typeface="Open Sans" pitchFamily="34" charset="-120"/>
              </a:rPr>
              <a:t>Great Britain version — keep if you operate in GB, delete the others</a:t>
            </a:r>
            <a:endParaRPr lang="en-US" sz="1000" dirty="0"/>
          </a:p>
        </p:txBody>
      </p:sp>
      <p:sp>
        <p:nvSpPr>
          <p:cNvPr id="8" name="Text 6"/>
          <p:cNvSpPr/>
          <p:nvPr/>
        </p:nvSpPr>
        <p:spPr>
          <a:xfrm>
            <a:off x="777240" y="5559552"/>
            <a:ext cx="8899855" cy="310896"/>
          </a:xfrm>
          <a:prstGeom prst="rect">
            <a:avLst/>
          </a:prstGeom>
          <a:noFill/>
          <a:ln/>
        </p:spPr>
        <p:txBody>
          <a:bodyPr wrap="square" lIns="0" tIns="0" rIns="0" bIns="0" rtlCol="0" anchor="ctr"/>
          <a:lstStyle/>
          <a:p>
            <a:pPr indent="0" marL="0">
              <a:buNone/>
            </a:pPr>
            <a:r>
              <a:rPr lang="en-US" sz="1000" i="1" dirty="0">
                <a:solidFill>
                  <a:srgbClr val="63686C"/>
                </a:solidFill>
                <a:latin typeface="Open Sans" pitchFamily="34" charset="0"/>
                <a:ea typeface="Open Sans" pitchFamily="34" charset="-122"/>
                <a:cs typeface="Open Sans" pitchFamily="34" charset="-120"/>
              </a:rPr>
              <a:t>Add the current contact details for FRANK and Drinkaware before you present this slide.</a:t>
            </a:r>
            <a:endParaRPr lang="en-US" sz="1000" dirty="0"/>
          </a:p>
        </p:txBody>
      </p:sp>
      <p:sp>
        <p:nvSpPr>
          <p:cNvPr id="9" name="Text 7"/>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11" name="Shape 8"/>
          <p:cNvSpPr/>
          <p:nvPr/>
        </p:nvSpPr>
        <p:spPr>
          <a:xfrm>
            <a:off x="777240" y="2286000"/>
            <a:ext cx="5135728" cy="1280160"/>
          </a:xfrm>
          <a:prstGeom prst="rect">
            <a:avLst/>
          </a:prstGeom>
          <a:solidFill>
            <a:srgbClr val="FFFFFF"/>
          </a:solidFill>
          <a:ln w="9525">
            <a:solidFill>
              <a:srgbClr val="DCE3E6"/>
            </a:solidFill>
            <a:prstDash val="solid"/>
          </a:ln>
        </p:spPr>
      </p:sp>
      <p:sp>
        <p:nvSpPr>
          <p:cNvPr id="12" name="Text 9"/>
          <p:cNvSpPr/>
          <p:nvPr/>
        </p:nvSpPr>
        <p:spPr>
          <a:xfrm>
            <a:off x="996696"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Come forward first</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Self-referral before you are selected for testing is treated as a health matter, with support. Coming forward is not the same as being found out, and the policy recognises the difference.</a:t>
            </a:r>
            <a:endParaRPr lang="en-US" sz="1350" dirty="0"/>
          </a:p>
        </p:txBody>
      </p:sp>
      <p:sp>
        <p:nvSpPr>
          <p:cNvPr id="13" name="Shape 10"/>
          <p:cNvSpPr/>
          <p:nvPr/>
        </p:nvSpPr>
        <p:spPr>
          <a:xfrm>
            <a:off x="6278728" y="2286000"/>
            <a:ext cx="5135728" cy="1280160"/>
          </a:xfrm>
          <a:prstGeom prst="rect">
            <a:avLst/>
          </a:prstGeom>
          <a:solidFill>
            <a:srgbClr val="FFFFFF"/>
          </a:solidFill>
          <a:ln w="9525">
            <a:solidFill>
              <a:srgbClr val="DCE3E6"/>
            </a:solidFill>
            <a:prstDash val="solid"/>
          </a:ln>
        </p:spPr>
      </p:sp>
      <p:sp>
        <p:nvSpPr>
          <p:cNvPr id="14" name="Text 11"/>
          <p:cNvSpPr/>
          <p:nvPr/>
        </p:nvSpPr>
        <p:spPr>
          <a:xfrm>
            <a:off x="6498184" y="2432304"/>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Confidentially, here</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Speak to ⟨Support contact⟩, or use the employee assistance programme where one is in place. This is a health route, not a disciplinary one.</a:t>
            </a:r>
            <a:endParaRPr lang="en-US" sz="1350" dirty="0"/>
          </a:p>
        </p:txBody>
      </p:sp>
      <p:sp>
        <p:nvSpPr>
          <p:cNvPr id="15" name="Shape 12"/>
          <p:cNvSpPr/>
          <p:nvPr/>
        </p:nvSpPr>
        <p:spPr>
          <a:xfrm>
            <a:off x="777240" y="3822192"/>
            <a:ext cx="5135728" cy="1280160"/>
          </a:xfrm>
          <a:prstGeom prst="rect">
            <a:avLst/>
          </a:prstGeom>
          <a:solidFill>
            <a:srgbClr val="F3F5F6"/>
          </a:solidFill>
          <a:ln w="9525">
            <a:solidFill>
              <a:srgbClr val="DCE3E6"/>
            </a:solidFill>
            <a:prstDash val="solid"/>
          </a:ln>
        </p:spPr>
      </p:sp>
      <p:sp>
        <p:nvSpPr>
          <p:cNvPr id="16" name="Text 13"/>
          <p:cNvSpPr/>
          <p:nvPr/>
        </p:nvSpPr>
        <p:spPr>
          <a:xfrm>
            <a:off x="996696"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Your GP</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Your GP can treat this as the health matter it is, and that route involves your employer not at all.</a:t>
            </a:r>
            <a:endParaRPr lang="en-US" sz="1350" dirty="0"/>
          </a:p>
        </p:txBody>
      </p:sp>
      <p:sp>
        <p:nvSpPr>
          <p:cNvPr id="17" name="Shape 14"/>
          <p:cNvSpPr/>
          <p:nvPr/>
        </p:nvSpPr>
        <p:spPr>
          <a:xfrm>
            <a:off x="6278728" y="3822192"/>
            <a:ext cx="5135728" cy="1280160"/>
          </a:xfrm>
          <a:prstGeom prst="rect">
            <a:avLst/>
          </a:prstGeom>
          <a:solidFill>
            <a:srgbClr val="F3F5F6"/>
          </a:solidFill>
          <a:ln w="9525">
            <a:solidFill>
              <a:srgbClr val="DCE3E6"/>
            </a:solidFill>
            <a:prstDash val="solid"/>
          </a:ln>
        </p:spPr>
      </p:sp>
      <p:sp>
        <p:nvSpPr>
          <p:cNvPr id="18" name="Text 15"/>
          <p:cNvSpPr/>
          <p:nvPr/>
        </p:nvSpPr>
        <p:spPr>
          <a:xfrm>
            <a:off x="6498184" y="3968496"/>
            <a:ext cx="4696816" cy="1005840"/>
          </a:xfrm>
          <a:prstGeom prst="rect">
            <a:avLst/>
          </a:prstGeom>
          <a:noFill/>
          <a:ln/>
        </p:spPr>
        <p:txBody>
          <a:bodyPr wrap="square" lIns="0" tIns="0" rIns="0" bIns="0" rtlCol="0" anchor="t"/>
          <a:lstStyle/>
          <a:p>
            <a:pPr indent="0" marL="0">
              <a:lnSpc>
                <a:spcPts val="1800"/>
              </a:lnSpc>
              <a:buNone/>
            </a:pPr>
            <a:r>
              <a:rPr lang="en-US" sz="1350" dirty="0">
                <a:solidFill>
                  <a:srgbClr val="2C2D2F"/>
                </a:solidFill>
                <a:latin typeface="Open Sans SemiBold" pitchFamily="34" charset="0"/>
                <a:ea typeface="Open Sans SemiBold" pitchFamily="34" charset="-122"/>
                <a:cs typeface="Open Sans SemiBold" pitchFamily="34" charset="-120"/>
              </a:rPr>
              <a:t>Public services</a:t>
            </a:r>
            <a:endParaRPr lang="en-US" sz="1350" dirty="0"/>
          </a:p>
          <a:p>
            <a:pPr indent="0" marL="0">
              <a:lnSpc>
                <a:spcPts val="1800"/>
              </a:lnSpc>
              <a:buNone/>
            </a:pPr>
            <a:r>
              <a:rPr lang="en-US" sz="1250" dirty="0">
                <a:solidFill>
                  <a:srgbClr val="2C2D2F"/>
                </a:solidFill>
                <a:latin typeface="Open Sans" pitchFamily="34" charset="0"/>
                <a:ea typeface="Open Sans" pitchFamily="34" charset="-122"/>
                <a:cs typeface="Open Sans" pitchFamily="34" charset="-120"/>
              </a:rPr>
              <a:t>The national drug advice service FRANK, and Drinkaware for alcohol. Both are open to anybody, at any stage, and neither goes through your employer.</a:t>
            </a:r>
            <a:endParaRPr lang="en-US" sz="1350" dirty="0"/>
          </a:p>
        </p:txBody>
      </p:sp>
      <p:sp>
        <p:nvSpPr>
          <p:cNvPr id="19" name="Text 16"/>
          <p:cNvSpPr/>
          <p:nvPr/>
        </p:nvSpPr>
        <p:spPr>
          <a:xfrm>
            <a:off x="777240" y="5285232"/>
            <a:ext cx="8899855" cy="365760"/>
          </a:xfrm>
          <a:prstGeom prst="rect">
            <a:avLst/>
          </a:prstGeom>
          <a:noFill/>
          <a:ln/>
        </p:spPr>
        <p:txBody>
          <a:bodyPr wrap="square" lIns="0" tIns="0" rIns="0" bIns="0" rtlCol="0" anchor="t"/>
          <a:lstStyle/>
          <a:p>
            <a:pPr indent="0" marL="0">
              <a:buNone/>
            </a:pPr>
            <a:r>
              <a:rPr lang="en-US" sz="1500" i="1" dirty="0">
                <a:solidFill>
                  <a:srgbClr val="2C2D2F"/>
                </a:solidFill>
                <a:latin typeface="Open Sans" pitchFamily="34" charset="0"/>
                <a:ea typeface="Open Sans" pitchFamily="34" charset="-122"/>
                <a:cs typeface="Open Sans" pitchFamily="34" charset="-120"/>
              </a:rPr>
              <a:t>Asking for help is not a breach of any policy worth having.</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566928"/>
            <a:ext cx="10637215" cy="274320"/>
          </a:xfrm>
          <a:prstGeom prst="rect">
            <a:avLst/>
          </a:prstGeom>
          <a:noFill/>
          <a:ln/>
        </p:spPr>
        <p:txBody>
          <a:bodyPr wrap="square" lIns="0" tIns="0" rIns="0" bIns="0" rtlCol="0" anchor="ctr"/>
          <a:lstStyle/>
          <a:p>
            <a:pPr indent="0" marL="0">
              <a:buNone/>
            </a:pPr>
            <a:r>
              <a:rPr lang="en-US" sz="1200" spc="100" kern="0" dirty="0">
                <a:solidFill>
                  <a:srgbClr val="2A8BA3"/>
                </a:solidFill>
                <a:latin typeface="Open Sans SemiBold" pitchFamily="34" charset="0"/>
                <a:ea typeface="Open Sans SemiBold" pitchFamily="34" charset="-122"/>
                <a:cs typeface="Open Sans SemiBold" pitchFamily="34" charset="-120"/>
              </a:rPr>
              <a:t>06   </a:t>
            </a:r>
            <a:pPr indent="0" marL="0">
              <a:buNone/>
            </a:pPr>
            <a:r>
              <a:rPr lang="en-US" sz="1200" spc="100" kern="0" dirty="0">
                <a:solidFill>
                  <a:srgbClr val="63686C"/>
                </a:solidFill>
                <a:latin typeface="Open Sans SemiBold" pitchFamily="34" charset="0"/>
                <a:ea typeface="Open Sans SemiBold" pitchFamily="34" charset="-122"/>
                <a:cs typeface="Open Sans SemiBold" pitchFamily="34" charset="-120"/>
              </a:rPr>
              <a:t>Knowledge check</a:t>
            </a:r>
            <a:endParaRPr lang="en-US" sz="1200" dirty="0"/>
          </a:p>
        </p:txBody>
      </p:sp>
      <p:sp>
        <p:nvSpPr>
          <p:cNvPr id="4" name="Text 2"/>
          <p:cNvSpPr/>
          <p:nvPr/>
        </p:nvSpPr>
        <p:spPr>
          <a:xfrm>
            <a:off x="777240" y="896112"/>
            <a:ext cx="9905695" cy="868680"/>
          </a:xfrm>
          <a:prstGeom prst="rect">
            <a:avLst/>
          </a:prstGeom>
          <a:noFill/>
          <a:ln/>
        </p:spPr>
        <p:txBody>
          <a:bodyPr wrap="square" lIns="0" tIns="0" rIns="0" bIns="0" rtlCol="0" anchor="t"/>
          <a:lstStyle/>
          <a:p>
            <a:pPr indent="0" marL="0">
              <a:buNone/>
            </a:pPr>
            <a:r>
              <a:rPr lang="en-US" sz="2900" dirty="0">
                <a:solidFill>
                  <a:srgbClr val="2C2D2F"/>
                </a:solidFill>
                <a:latin typeface="Open Sans SemiBold" pitchFamily="34" charset="0"/>
                <a:ea typeface="Open Sans SemiBold" pitchFamily="34" charset="-122"/>
                <a:cs typeface="Open Sans SemiBold" pitchFamily="34" charset="-120"/>
              </a:rPr>
              <a:t>Three quick questions</a:t>
            </a:r>
            <a:endParaRPr lang="en-US" sz="2900" dirty="0"/>
          </a:p>
        </p:txBody>
      </p:sp>
      <p:sp>
        <p:nvSpPr>
          <p:cNvPr id="5" name="Text 3"/>
          <p:cNvSpPr/>
          <p:nvPr/>
        </p:nvSpPr>
        <p:spPr>
          <a:xfrm>
            <a:off x="777240" y="1755648"/>
            <a:ext cx="9357055" cy="384048"/>
          </a:xfrm>
          <a:prstGeom prst="rect">
            <a:avLst/>
          </a:prstGeom>
          <a:noFill/>
          <a:ln/>
        </p:spPr>
        <p:txBody>
          <a:bodyPr wrap="square" lIns="0" tIns="0" rIns="0" bIns="0" rtlCol="0" anchor="t"/>
          <a:lstStyle/>
          <a:p>
            <a:pPr indent="0" marL="0">
              <a:buNone/>
            </a:pPr>
            <a:r>
              <a:rPr lang="en-US" sz="1500" dirty="0">
                <a:solidFill>
                  <a:srgbClr val="63686C"/>
                </a:solidFill>
                <a:latin typeface="Open Sans" pitchFamily="34" charset="0"/>
                <a:ea typeface="Open Sans" pitchFamily="34" charset="-122"/>
                <a:cs typeface="Open Sans" pitchFamily="34" charset="-120"/>
              </a:rPr>
              <a:t>Hands up, with the answer read out straight after each one. Nothing is scored or recorded.</a:t>
            </a:r>
            <a:endParaRPr lang="en-US" sz="1500" dirty="0"/>
          </a:p>
        </p:txBody>
      </p:sp>
      <p:sp>
        <p:nvSpPr>
          <p:cNvPr id="6" name="Text 4"/>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8" name="Shape 5"/>
          <p:cNvSpPr/>
          <p:nvPr/>
        </p:nvSpPr>
        <p:spPr>
          <a:xfrm>
            <a:off x="777240" y="2377440"/>
            <a:ext cx="10637215" cy="822960"/>
          </a:xfrm>
          <a:prstGeom prst="rect">
            <a:avLst/>
          </a:prstGeom>
          <a:solidFill>
            <a:srgbClr val="EAF4F7"/>
          </a:solidFill>
          <a:ln w="9525">
            <a:solidFill>
              <a:srgbClr val="DCE3E6"/>
            </a:solidFill>
            <a:prstDash val="solid"/>
          </a:ln>
        </p:spPr>
      </p:sp>
      <p:sp>
        <p:nvSpPr>
          <p:cNvPr id="9" name="Text 6"/>
          <p:cNvSpPr/>
          <p:nvPr/>
        </p:nvSpPr>
        <p:spPr>
          <a:xfrm>
            <a:off x="1051560" y="2596896"/>
            <a:ext cx="10088575" cy="457200"/>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01   </a:t>
            </a:r>
            <a:pPr indent="0" marL="0">
              <a:buNone/>
            </a:pPr>
            <a:r>
              <a:rPr lang="en-US" sz="1600" dirty="0">
                <a:solidFill>
                  <a:srgbClr val="2C2D2F"/>
                </a:solidFill>
                <a:latin typeface="Open Sans" pitchFamily="34" charset="0"/>
                <a:ea typeface="Open Sans" pitchFamily="34" charset="-122"/>
                <a:cs typeface="Open Sans" pitchFamily="34" charset="-120"/>
              </a:rPr>
              <a:t>What single question is the policy asking of you?</a:t>
            </a:r>
            <a:endParaRPr lang="en-US" sz="1400" dirty="0"/>
          </a:p>
        </p:txBody>
      </p:sp>
      <p:sp>
        <p:nvSpPr>
          <p:cNvPr id="10" name="Shape 7"/>
          <p:cNvSpPr/>
          <p:nvPr/>
        </p:nvSpPr>
        <p:spPr>
          <a:xfrm>
            <a:off x="777240" y="3383280"/>
            <a:ext cx="10637215" cy="822960"/>
          </a:xfrm>
          <a:prstGeom prst="rect">
            <a:avLst/>
          </a:prstGeom>
          <a:solidFill>
            <a:srgbClr val="EAF4F7"/>
          </a:solidFill>
          <a:ln w="9525">
            <a:solidFill>
              <a:srgbClr val="DCE3E6"/>
            </a:solidFill>
            <a:prstDash val="solid"/>
          </a:ln>
        </p:spPr>
      </p:sp>
      <p:sp>
        <p:nvSpPr>
          <p:cNvPr id="11" name="Text 8"/>
          <p:cNvSpPr/>
          <p:nvPr/>
        </p:nvSpPr>
        <p:spPr>
          <a:xfrm>
            <a:off x="1051560" y="3602736"/>
            <a:ext cx="10088575" cy="457200"/>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02   </a:t>
            </a:r>
            <a:pPr indent="0" marL="0">
              <a:buNone/>
            </a:pPr>
            <a:r>
              <a:rPr lang="en-US" sz="1600" dirty="0">
                <a:solidFill>
                  <a:srgbClr val="2C2D2F"/>
                </a:solidFill>
                <a:latin typeface="Open Sans" pitchFamily="34" charset="0"/>
                <a:ea typeface="Open Sans" pitchFamily="34" charset="-122"/>
                <a:cs typeface="Open Sans" pitchFamily="34" charset="-120"/>
              </a:rPr>
              <a:t>What does a non-negative screening result mean?</a:t>
            </a:r>
            <a:endParaRPr lang="en-US" sz="1400" dirty="0"/>
          </a:p>
        </p:txBody>
      </p:sp>
      <p:sp>
        <p:nvSpPr>
          <p:cNvPr id="12" name="Shape 9"/>
          <p:cNvSpPr/>
          <p:nvPr/>
        </p:nvSpPr>
        <p:spPr>
          <a:xfrm>
            <a:off x="777240" y="4389120"/>
            <a:ext cx="10637215" cy="822960"/>
          </a:xfrm>
          <a:prstGeom prst="rect">
            <a:avLst/>
          </a:prstGeom>
          <a:solidFill>
            <a:srgbClr val="EAF4F7"/>
          </a:solidFill>
          <a:ln w="9525">
            <a:solidFill>
              <a:srgbClr val="DCE3E6"/>
            </a:solidFill>
            <a:prstDash val="solid"/>
          </a:ln>
        </p:spPr>
      </p:sp>
      <p:sp>
        <p:nvSpPr>
          <p:cNvPr id="13" name="Text 10"/>
          <p:cNvSpPr/>
          <p:nvPr/>
        </p:nvSpPr>
        <p:spPr>
          <a:xfrm>
            <a:off x="1051560" y="4608576"/>
            <a:ext cx="10088575" cy="457200"/>
          </a:xfrm>
          <a:prstGeom prst="rect">
            <a:avLst/>
          </a:prstGeom>
          <a:noFill/>
          <a:ln/>
        </p:spPr>
        <p:txBody>
          <a:bodyPr wrap="square" lIns="0" tIns="0" rIns="0" bIns="0" rtlCol="0" anchor="t"/>
          <a:lstStyle/>
          <a:p>
            <a:pPr indent="0" marL="0">
              <a:buNone/>
            </a:pPr>
            <a:r>
              <a:rPr lang="en-US" sz="1400" dirty="0">
                <a:solidFill>
                  <a:srgbClr val="2A8BA3"/>
                </a:solidFill>
                <a:latin typeface="Open Sans SemiBold" pitchFamily="34" charset="0"/>
                <a:ea typeface="Open Sans SemiBold" pitchFamily="34" charset="-122"/>
                <a:cs typeface="Open Sans SemiBold" pitchFamily="34" charset="-120"/>
              </a:rPr>
              <a:t>03   </a:t>
            </a:r>
            <a:pPr indent="0" marL="0">
              <a:buNone/>
            </a:pPr>
            <a:r>
              <a:rPr lang="en-US" sz="1600" dirty="0">
                <a:solidFill>
                  <a:srgbClr val="2C2D2F"/>
                </a:solidFill>
                <a:latin typeface="Open Sans" pitchFamily="34" charset="0"/>
                <a:ea typeface="Open Sans" pitchFamily="34" charset="-122"/>
                <a:cs typeface="Open Sans" pitchFamily="34" charset="-120"/>
              </a:rPr>
              <a:t>When do you declare medication, and what do you not have to say?</a:t>
            </a:r>
            <a:endParaRPr lang="en-US" sz="1400" dirty="0"/>
          </a:p>
        </p:txBody>
      </p:sp>
      <p:sp>
        <p:nvSpPr>
          <p:cNvPr id="14" name="Text 11"/>
          <p:cNvSpPr/>
          <p:nvPr/>
        </p:nvSpPr>
        <p:spPr>
          <a:xfrm>
            <a:off x="777240" y="5532120"/>
            <a:ext cx="8899855" cy="310896"/>
          </a:xfrm>
          <a:prstGeom prst="rect">
            <a:avLst/>
          </a:prstGeom>
          <a:noFill/>
          <a:ln/>
        </p:spPr>
        <p:txBody>
          <a:bodyPr wrap="square" lIns="0" tIns="0" rIns="0" bIns="0" rtlCol="0" anchor="t"/>
          <a:lstStyle/>
          <a:p>
            <a:pPr indent="0" marL="0">
              <a:buNone/>
            </a:pPr>
            <a:r>
              <a:rPr lang="en-US" sz="1150" i="1" dirty="0">
                <a:solidFill>
                  <a:srgbClr val="63686C"/>
                </a:solidFill>
                <a:latin typeface="Open Sans" pitchFamily="34" charset="0"/>
                <a:ea typeface="Open Sans" pitchFamily="34" charset="-122"/>
                <a:cs typeface="Open Sans" pitchFamily="34" charset="-120"/>
              </a:rPr>
              <a:t>Answers are in the speaker notes for this slide.</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CFC"/>
        </a:solidFill>
      </p:bgPr>
    </p:bg>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rgbClr val="FBFCFC"/>
          </a:solidFill>
          <a:ln/>
        </p:spPr>
      </p:sp>
      <p:sp>
        <p:nvSpPr>
          <p:cNvPr id="3" name="Text 1"/>
          <p:cNvSpPr/>
          <p:nvPr/>
        </p:nvSpPr>
        <p:spPr>
          <a:xfrm>
            <a:off x="777240" y="6327648"/>
            <a:ext cx="10637215" cy="292608"/>
          </a:xfrm>
          <a:prstGeom prst="rect">
            <a:avLst/>
          </a:prstGeom>
          <a:noFill/>
          <a:ln/>
        </p:spPr>
        <p:txBody>
          <a:bodyPr wrap="square" lIns="0" tIns="0" rIns="0" bIns="0" rtlCol="0" anchor="ctr"/>
          <a:lstStyle/>
          <a:p>
            <a:pPr algn="l" indent="0" marL="0">
              <a:buNone/>
            </a:pPr>
            <a:r>
              <a:rPr lang="en-US" sz="800" dirty="0">
                <a:solidFill>
                  <a:srgbClr val="63686C"/>
                </a:solidFill>
                <a:latin typeface="Open Sans" pitchFamily="34" charset="0"/>
                <a:ea typeface="Open Sans" pitchFamily="34" charset="-122"/>
                <a:cs typeface="Open Sans" pitchFamily="34" charset="-120"/>
              </a:rPr>
              <a:t>v1.1 — issued 2 September 2026 · prepared with NIVHA Laboratory Services · a template for the organisation to review and adopt — not legal advice</a:t>
            </a:r>
            <a:endParaRPr lang="en-US" sz="800" dirty="0"/>
          </a:p>
        </p:txBody>
      </p:sp>
      <p:sp>
        <p:nvSpPr>
          <p:cNvPr id="5" name="Shape 2"/>
          <p:cNvSpPr/>
          <p:nvPr/>
        </p:nvSpPr>
        <p:spPr>
          <a:xfrm>
            <a:off x="-45720" y="1645920"/>
            <a:ext cx="12283135" cy="2651760"/>
          </a:xfrm>
          <a:prstGeom prst="rect">
            <a:avLst/>
          </a:prstGeom>
          <a:solidFill>
            <a:srgbClr val="EAF4F7"/>
          </a:solidFill>
          <a:ln/>
        </p:spPr>
      </p:sp>
      <p:sp>
        <p:nvSpPr>
          <p:cNvPr id="6" name="Text 3"/>
          <p:cNvSpPr/>
          <p:nvPr/>
        </p:nvSpPr>
        <p:spPr>
          <a:xfrm>
            <a:off x="777240" y="1920240"/>
            <a:ext cx="2743200" cy="310896"/>
          </a:xfrm>
          <a:prstGeom prst="rect">
            <a:avLst/>
          </a:prstGeom>
          <a:noFill/>
          <a:ln/>
        </p:spPr>
        <p:txBody>
          <a:bodyPr wrap="square" lIns="0" tIns="0" rIns="0" bIns="0" rtlCol="0" anchor="ctr"/>
          <a:lstStyle/>
          <a:p>
            <a:pPr indent="0" marL="0">
              <a:buNone/>
            </a:pPr>
            <a:r>
              <a:rPr lang="en-US" sz="1200" spc="200" kern="0" dirty="0">
                <a:solidFill>
                  <a:srgbClr val="2A8BA3"/>
                </a:solidFill>
                <a:latin typeface="Open Sans SemiBold" pitchFamily="34" charset="0"/>
                <a:ea typeface="Open Sans SemiBold" pitchFamily="34" charset="-122"/>
                <a:cs typeface="Open Sans SemiBold" pitchFamily="34" charset="-120"/>
              </a:rPr>
              <a:t>Close</a:t>
            </a:r>
            <a:endParaRPr lang="en-US" sz="1200" dirty="0"/>
          </a:p>
        </p:txBody>
      </p:sp>
      <p:sp>
        <p:nvSpPr>
          <p:cNvPr id="7" name="Text 4"/>
          <p:cNvSpPr/>
          <p:nvPr/>
        </p:nvSpPr>
        <p:spPr>
          <a:xfrm>
            <a:off x="777240" y="2331720"/>
            <a:ext cx="8808415" cy="1371600"/>
          </a:xfrm>
          <a:prstGeom prst="rect">
            <a:avLst/>
          </a:prstGeom>
          <a:noFill/>
          <a:ln/>
        </p:spPr>
        <p:txBody>
          <a:bodyPr wrap="square" lIns="0" tIns="0" rIns="0" bIns="0" rtlCol="0" anchor="t"/>
          <a:lstStyle/>
          <a:p>
            <a:pPr indent="0" marL="0">
              <a:lnSpc>
                <a:spcPts val="4400"/>
              </a:lnSpc>
              <a:buNone/>
            </a:pPr>
            <a:r>
              <a:rPr lang="en-US" sz="3400" dirty="0">
                <a:solidFill>
                  <a:srgbClr val="2C2D2F"/>
                </a:solidFill>
                <a:latin typeface="Open Sans Light" pitchFamily="34" charset="0"/>
                <a:ea typeface="Open Sans Light" pitchFamily="34" charset="-122"/>
                <a:cs typeface="Open Sans Light" pitchFamily="34" charset="-120"/>
              </a:rPr>
              <a:t>Everyone who comes to work healthy and well goes home the same way.</a:t>
            </a:r>
            <a:endParaRPr lang="en-US" sz="3400" dirty="0"/>
          </a:p>
        </p:txBody>
      </p:sp>
      <p:sp>
        <p:nvSpPr>
          <p:cNvPr id="8" name="Text 5"/>
          <p:cNvSpPr/>
          <p:nvPr/>
        </p:nvSpPr>
        <p:spPr>
          <a:xfrm>
            <a:off x="777240" y="4480560"/>
            <a:ext cx="10225735" cy="868680"/>
          </a:xfrm>
          <a:prstGeom prst="rect">
            <a:avLst/>
          </a:prstGeom>
          <a:noFill/>
          <a:ln/>
        </p:spPr>
        <p:txBody>
          <a:bodyPr wrap="square" lIns="0" tIns="0" rIns="0" bIns="0" rtlCol="0" anchor="t"/>
          <a:lstStyle/>
          <a:p>
            <a:pPr marL="228600" indent="-228600">
              <a:lnSpc>
                <a:spcPts val="2000"/>
              </a:lnSpc>
              <a:spcAft>
                <a:spcPts val="800"/>
              </a:spcAft>
              <a:buSzPct val="100000"/>
              <a:buChar char="•"/>
            </a:pPr>
            <a:r>
              <a:rPr lang="en-US" sz="1350" dirty="0">
                <a:solidFill>
                  <a:srgbClr val="2C2D2F"/>
                </a:solidFill>
                <a:latin typeface="Open Sans" pitchFamily="34" charset="0"/>
                <a:ea typeface="Open Sans" pitchFamily="34" charset="-122"/>
                <a:cs typeface="Open Sans" pitchFamily="34" charset="-120"/>
              </a:rPr>
              <a:t>The policy asks one question: are you fit to do your work safely today?</a:t>
            </a:r>
            <a:endParaRPr lang="en-US" sz="1350" dirty="0"/>
          </a:p>
          <a:p>
            <a:pPr marL="228600" indent="-228600">
              <a:lnSpc>
                <a:spcPts val="2000"/>
              </a:lnSpc>
              <a:spcAft>
                <a:spcPts val="800"/>
              </a:spcAft>
              <a:buSzPct val="100000"/>
              <a:buChar char="•"/>
            </a:pPr>
            <a:r>
              <a:rPr lang="en-US" sz="1350" dirty="0">
                <a:solidFill>
                  <a:srgbClr val="2C2D2F"/>
                </a:solidFill>
                <a:latin typeface="Open Sans" pitchFamily="34" charset="0"/>
                <a:ea typeface="Open Sans" pitchFamily="34" charset="-122"/>
                <a:cs typeface="Open Sans" pitchFamily="34" charset="-120"/>
              </a:rPr>
              <a:t>A screening device indicates, the laboratory confirms, a clinician reviews declared medication</a:t>
            </a:r>
            <a:endParaRPr lang="en-US" sz="1350" dirty="0"/>
          </a:p>
          <a:p>
            <a:pPr marL="228600" indent="-228600">
              <a:lnSpc>
                <a:spcPts val="2000"/>
              </a:lnSpc>
              <a:spcAft>
                <a:spcPts val="800"/>
              </a:spcAft>
              <a:buSzPct val="100000"/>
              <a:buChar char="•"/>
            </a:pPr>
            <a:r>
              <a:rPr lang="en-US" sz="1350" dirty="0">
                <a:solidFill>
                  <a:srgbClr val="2C2D2F"/>
                </a:solidFill>
                <a:latin typeface="Open Sans" pitchFamily="34" charset="0"/>
                <a:ea typeface="Open Sans" pitchFamily="34" charset="-122"/>
                <a:cs typeface="Open Sans" pitchFamily="34" charset="-120"/>
              </a:rPr>
              <a:t>Declare your medication, and ask for help early — neither one is a breach</a:t>
            </a:r>
            <a:endParaRPr lang="en-US" sz="1350" dirty="0"/>
          </a:p>
        </p:txBody>
      </p:sp>
      <p:sp>
        <p:nvSpPr>
          <p:cNvPr id="9" name="Text 6"/>
          <p:cNvSpPr/>
          <p:nvPr/>
        </p:nvSpPr>
        <p:spPr>
          <a:xfrm>
            <a:off x="777240" y="5669280"/>
            <a:ext cx="8412480" cy="457200"/>
          </a:xfrm>
          <a:prstGeom prst="rect">
            <a:avLst/>
          </a:prstGeom>
          <a:noFill/>
          <a:ln/>
        </p:spPr>
        <p:txBody>
          <a:bodyPr wrap="square" lIns="0" tIns="0" rIns="0" bIns="0" rtlCol="0" anchor="t"/>
          <a:lstStyle/>
          <a:p>
            <a:pPr indent="0" marL="0">
              <a:lnSpc>
                <a:spcPts val="1800"/>
              </a:lnSpc>
              <a:buNone/>
            </a:pPr>
            <a:r>
              <a:rPr lang="en-US" sz="1250" dirty="0">
                <a:solidFill>
                  <a:srgbClr val="63686C"/>
                </a:solidFill>
                <a:latin typeface="Open Sans" pitchFamily="34" charset="0"/>
                <a:ea typeface="Open Sans" pitchFamily="34" charset="-122"/>
                <a:cs typeface="Open Sans" pitchFamily="34" charset="-120"/>
              </a:rPr>
              <a:t>Please sign the sign-off sheet before you leave. Any question left unanswered is written on the sheet and passed to ⟨Policy owner⟩.</a:t>
            </a:r>
            <a:endParaRPr lang="en-US" sz="1250" dirty="0"/>
          </a:p>
        </p:txBody>
      </p:sp>
      <p:pic>
        <p:nvPicPr>
          <p:cNvPr id="10" name="Image 0" descr="/home/user/workspace/nivha-website/public/assets/nivha-logo-lg.png">    </p:cNvPr>
          <p:cNvPicPr>
            <a:picLocks noChangeAspect="1"/>
          </p:cNvPicPr>
          <p:nvPr/>
        </p:nvPicPr>
        <p:blipFill>
          <a:blip r:embed="rId1"/>
          <a:stretch>
            <a:fillRect/>
          </a:stretch>
        </p:blipFill>
        <p:spPr>
          <a:xfrm>
            <a:off x="9951415" y="5705856"/>
            <a:ext cx="1463040" cy="32796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Drugs and alcohol at work — toolbox talk</dc:title>
  <dc:subject>Condensed supervisor-delivered toolbox talk, 25 to 35 minutes</dc:subject>
  <dc:creator>NIVHA Laboratory Services</dc:creator>
  <cp:lastModifiedBy>NIVHA Laboratory Services</cp:lastModifiedBy>
  <cp:revision>1</cp:revision>
  <dcterms:created xsi:type="dcterms:W3CDTF">2026-08-11T12:08:18Z</dcterms:created>
  <dcterms:modified xsi:type="dcterms:W3CDTF">2026-08-11T12:08:18Z</dcterms:modified>
</cp:coreProperties>
</file>